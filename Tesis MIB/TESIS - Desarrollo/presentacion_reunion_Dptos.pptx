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3" r:id="rId1"/>
  </p:sldMasterIdLst>
  <p:sldIdLst>
    <p:sldId id="256" r:id="rId2"/>
    <p:sldId id="257" r:id="rId3"/>
    <p:sldId id="270" r:id="rId4"/>
    <p:sldId id="259" r:id="rId5"/>
    <p:sldId id="269" r:id="rId6"/>
    <p:sldId id="274" r:id="rId7"/>
    <p:sldId id="271" r:id="rId8"/>
    <p:sldId id="272" r:id="rId9"/>
    <p:sldId id="273" r:id="rId10"/>
    <p:sldId id="275" r:id="rId11"/>
    <p:sldId id="278" r:id="rId12"/>
    <p:sldId id="284" r:id="rId13"/>
    <p:sldId id="285" r:id="rId14"/>
    <p:sldId id="279" r:id="rId15"/>
    <p:sldId id="280" r:id="rId16"/>
    <p:sldId id="281" r:id="rId17"/>
    <p:sldId id="282" r:id="rId18"/>
    <p:sldId id="276" r:id="rId19"/>
    <p:sldId id="277" r:id="rId20"/>
    <p:sldId id="283" r:id="rId21"/>
    <p:sldId id="267" r:id="rId2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0000"/>
    <a:srgbClr val="B80000"/>
    <a:srgbClr val="FF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4" autoAdjust="0"/>
    <p:restoredTop sz="89587" autoAdjust="0"/>
  </p:normalViewPr>
  <p:slideViewPr>
    <p:cSldViewPr snapToGrid="0">
      <p:cViewPr varScale="1">
        <p:scale>
          <a:sx n="63" d="100"/>
          <a:sy n="63" d="100"/>
        </p:scale>
        <p:origin x="3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eremias\Downloads\Informe%20de%20Compras%20por%20departamentos%20academicos%20y%20graficos%20A&#241;o%202022-2023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Presupuesto</a:t>
            </a:r>
            <a:r>
              <a:rPr lang="es-ES" baseline="0" dirty="0"/>
              <a:t> FaCENA </a:t>
            </a:r>
            <a:r>
              <a:rPr lang="es-ES" baseline="0" dirty="0" smtClean="0"/>
              <a:t>- </a:t>
            </a:r>
            <a:r>
              <a:rPr lang="es-ES" dirty="0" smtClean="0"/>
              <a:t>2023</a:t>
            </a:r>
            <a:endParaRPr lang="es-ES" dirty="0"/>
          </a:p>
        </c:rich>
      </c:tx>
      <c:layout>
        <c:manualLayout>
          <c:xMode val="edge"/>
          <c:yMode val="edge"/>
          <c:x val="0.20952652319921197"/>
          <c:y val="6.2598906134774951E-2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5215800727611751E-2"/>
          <c:y val="0.21634338303538031"/>
          <c:w val="0.44842954458070511"/>
          <c:h val="0.72904151843179421"/>
        </c:manualLayout>
      </c:layout>
      <c:pie3DChart>
        <c:varyColors val="1"/>
        <c:ser>
          <c:idx val="0"/>
          <c:order val="0"/>
          <c:spPr>
            <a:ln>
              <a:solidFill>
                <a:srgbClr val="960000"/>
              </a:solidFill>
            </a:ln>
          </c:spPr>
          <c:dPt>
            <c:idx val="0"/>
            <c:bubble3D val="0"/>
            <c:spPr>
              <a:solidFill>
                <a:srgbClr val="0070C0"/>
              </a:solidFill>
              <a:ln>
                <a:solidFill>
                  <a:srgbClr val="960000"/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>
                <a:contourClr>
                  <a:srgbClr val="960000"/>
                </a:contourClr>
              </a:sp3d>
            </c:spPr>
          </c:dPt>
          <c:dPt>
            <c:idx val="1"/>
            <c:bubble3D val="0"/>
            <c:spPr>
              <a:solidFill>
                <a:srgbClr val="FFC000"/>
              </a:solidFill>
              <a:ln>
                <a:solidFill>
                  <a:srgbClr val="960000"/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>
                <a:contourClr>
                  <a:srgbClr val="960000"/>
                </a:contourClr>
              </a:sp3d>
            </c:spPr>
          </c:dPt>
          <c:dLbls>
            <c:dLbl>
              <c:idx val="0"/>
              <c:layout>
                <c:manualLayout>
                  <c:x val="-0.15306526822053843"/>
                  <c:y val="-0.1464899292709036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200" b="1" i="0" u="none" strike="noStrike" kern="1200" baseline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A9FAC8A-0E7D-4FCD-87A4-68DFED88979A}" type="PERCENTAGE">
                      <a:rPr lang="es-AR" sz="1200"/>
                      <a:pPr>
                        <a:defRPr sz="1200"/>
                      </a:pPr>
                      <a:t>[PORCENTAJE]</a:t>
                    </a:fld>
                    <a:r>
                      <a:rPr lang="es-AR" sz="1200" dirty="0"/>
                      <a:t> </a:t>
                    </a:r>
                    <a:endParaRPr lang="es-AR" sz="1200" dirty="0" smtClean="0"/>
                  </a:p>
                  <a:p>
                    <a:pPr>
                      <a:defRPr sz="1200"/>
                    </a:pPr>
                    <a:r>
                      <a:rPr lang="es-AR" sz="1200" dirty="0" smtClean="0"/>
                      <a:t>(</a:t>
                    </a:r>
                    <a:r>
                      <a:rPr lang="es-AR" sz="1200" dirty="0"/>
                      <a:t>sin</a:t>
                    </a:r>
                    <a:r>
                      <a:rPr lang="es-AR" sz="1200" baseline="0" dirty="0"/>
                      <a:t> previsión de incrementos salariales)</a:t>
                    </a:r>
                  </a:p>
                </c:rich>
              </c:tx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AR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pattFill prst="pct75">
                      <a:fgClr>
                        <a:schemeClr val="dk1">
                          <a:lumMod val="75000"/>
                          <a:lumOff val="25000"/>
                        </a:schemeClr>
                      </a:fgClr>
                      <a:bgClr>
                        <a:schemeClr val="dk1">
                          <a:lumMod val="65000"/>
                          <a:lumOff val="35000"/>
                        </a:schemeClr>
                      </a:bgClr>
                    </a:pattFill>
                    <a:ln>
                      <a:noFill/>
                    </a:ln>
                  </c15:spPr>
                  <c15:layout>
                    <c:manualLayout>
                      <c:w val="0.36362376449062189"/>
                      <c:h val="0.1895355769080686"/>
                    </c:manualLayout>
                  </c15:layout>
                  <c15:dlblFieldTable/>
                  <c15:showDataLabelsRange val="0"/>
                </c:ext>
              </c:extLst>
            </c:dLbl>
            <c:dLbl>
              <c:idx val="1"/>
              <c:layout>
                <c:manualLayout>
                  <c:x val="1.5682870722240776E-2"/>
                  <c:y val="2.3589348391350507E-2"/>
                </c:manualLayout>
              </c:layout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AR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5675675675675652E-2"/>
                      <c:h val="8.5375241614170941E-2"/>
                    </c:manualLayout>
                  </c15:layout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'[Informe de Compras por departamentos academicos y graficos Año 2022-2023 (1).xlsx]grafico CREDITO-ompras - SERVIC'!$B$3:$B$4</c:f>
              <c:strCache>
                <c:ptCount val="2"/>
                <c:pt idx="0">
                  <c:v>GASTOS DE PERSONAL</c:v>
                </c:pt>
                <c:pt idx="1">
                  <c:v>OTROS GASTOS</c:v>
                </c:pt>
              </c:strCache>
            </c:strRef>
          </c:cat>
          <c:val>
            <c:numRef>
              <c:f>'[Informe de Compras por departamentos academicos y graficos Año 2022-2023 (1).xlsx]grafico CREDITO-ompras - SERVIC'!$C$3:$C$4</c:f>
              <c:numCache>
                <c:formatCode>_ "$"\ * #.##0.00_ ;_ "$"\ * \-#.##0.00_ ;_ "$"\ * "-"??_ ;_ @_ </c:formatCode>
                <c:ptCount val="2"/>
                <c:pt idx="0">
                  <c:v>1729197607</c:v>
                </c:pt>
                <c:pt idx="1">
                  <c:v>87710638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471A-4E8B-9765-296FAB0D68E8}"/>
            </c:ext>
          </c:extLst>
        </c:ser>
        <c:ser>
          <c:idx val="1"/>
          <c:order val="1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'[Informe de Compras por departamentos academicos y graficos Año 2022-2023 (1).xlsx]grafico CREDITO-ompras - SERVIC'!$B$3:$B$4</c:f>
              <c:strCache>
                <c:ptCount val="2"/>
                <c:pt idx="0">
                  <c:v>GASTOS DE PERSONAL</c:v>
                </c:pt>
                <c:pt idx="1">
                  <c:v>OTROS GASTOS</c:v>
                </c:pt>
              </c:strCache>
            </c:strRef>
          </c:cat>
          <c:val>
            <c:numRef>
              <c:f>'[Informe de Compras por departamentos academicos y graficos Año 2022-2023 (1).xlsx]grafico CREDITO-ompras - SERVIC'!$D$3:$D$4</c:f>
              <c:numCache>
                <c:formatCode>0%</c:formatCode>
                <c:ptCount val="2"/>
                <c:pt idx="0">
                  <c:v>0.95172533437427376</c:v>
                </c:pt>
                <c:pt idx="1">
                  <c:v>4.8274665625726187E-2</c:v>
                </c:pt>
              </c:numCache>
            </c:numRef>
          </c:val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3977222226751331"/>
          <c:y val="0.38066597459185431"/>
          <c:w val="0.41477324131606585"/>
          <c:h val="0.23866777698030653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19050" cap="flat" cmpd="sng" algn="ctr">
      <a:solidFill>
        <a:srgbClr val="960000"/>
      </a:solidFill>
      <a:round/>
    </a:ln>
    <a:effectLst/>
  </c:spPr>
  <c:txPr>
    <a:bodyPr/>
    <a:lstStyle/>
    <a:p>
      <a:pPr>
        <a:defRPr/>
      </a:pPr>
      <a:endParaRPr lang="es-A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7BC27-1280-45A7-A2A0-AE5BDB245C58}" type="datetimeFigureOut">
              <a:rPr lang="es-AR" smtClean="0"/>
              <a:t>31/7/2023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DCD6-44B5-4943-9C7E-9D43F50468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61150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7BC27-1280-45A7-A2A0-AE5BDB245C58}" type="datetimeFigureOut">
              <a:rPr lang="es-AR" smtClean="0"/>
              <a:t>31/7/2023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DCD6-44B5-4943-9C7E-9D43F50468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79309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7BC27-1280-45A7-A2A0-AE5BDB245C58}" type="datetimeFigureOut">
              <a:rPr lang="es-AR" smtClean="0"/>
              <a:t>31/7/2023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DCD6-44B5-4943-9C7E-9D43F50468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7457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7BC27-1280-45A7-A2A0-AE5BDB245C58}" type="datetimeFigureOut">
              <a:rPr lang="es-AR" smtClean="0"/>
              <a:t>31/7/2023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DCD6-44B5-4943-9C7E-9D43F50468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20308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7BC27-1280-45A7-A2A0-AE5BDB245C58}" type="datetimeFigureOut">
              <a:rPr lang="es-AR" smtClean="0"/>
              <a:t>31/7/2023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DCD6-44B5-4943-9C7E-9D43F50468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0919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7BC27-1280-45A7-A2A0-AE5BDB245C58}" type="datetimeFigureOut">
              <a:rPr lang="es-AR" smtClean="0"/>
              <a:t>31/7/2023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DCD6-44B5-4943-9C7E-9D43F50468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8001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7BC27-1280-45A7-A2A0-AE5BDB245C58}" type="datetimeFigureOut">
              <a:rPr lang="es-AR" smtClean="0"/>
              <a:t>31/7/2023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DCD6-44B5-4943-9C7E-9D43F50468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28674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7BC27-1280-45A7-A2A0-AE5BDB245C58}" type="datetimeFigureOut">
              <a:rPr lang="es-AR" smtClean="0"/>
              <a:t>31/7/2023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DCD6-44B5-4943-9C7E-9D43F50468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30712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7BC27-1280-45A7-A2A0-AE5BDB245C58}" type="datetimeFigureOut">
              <a:rPr lang="es-AR" smtClean="0"/>
              <a:t>31/7/2023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DCD6-44B5-4943-9C7E-9D43F50468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678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7BC27-1280-45A7-A2A0-AE5BDB245C58}" type="datetimeFigureOut">
              <a:rPr lang="es-AR" smtClean="0"/>
              <a:t>31/7/2023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DCD6-44B5-4943-9C7E-9D43F50468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72551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7BC27-1280-45A7-A2A0-AE5BDB245C58}" type="datetimeFigureOut">
              <a:rPr lang="es-AR" smtClean="0"/>
              <a:t>31/7/2023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DCD6-44B5-4943-9C7E-9D43F50468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42247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7BC27-1280-45A7-A2A0-AE5BDB245C58}" type="datetimeFigureOut">
              <a:rPr lang="es-AR" smtClean="0"/>
              <a:t>31/7/2023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DCD6-44B5-4943-9C7E-9D43F5046885}" type="slidenum">
              <a:rPr lang="es-AR" smtClean="0"/>
              <a:t>‹Nº›</a:t>
            </a:fld>
            <a:endParaRPr lang="es-AR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5834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7BC27-1280-45A7-A2A0-AE5BDB245C58}" type="datetimeFigureOut">
              <a:rPr lang="es-AR" smtClean="0"/>
              <a:t>31/7/2023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DCD6-44B5-4943-9C7E-9D43F50468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8742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7BC27-1280-45A7-A2A0-AE5BDB245C58}" type="datetimeFigureOut">
              <a:rPr lang="es-AR" smtClean="0"/>
              <a:t>31/7/2023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DCD6-44B5-4943-9C7E-9D43F50468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464925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7BC27-1280-45A7-A2A0-AE5BDB245C58}" type="datetimeFigureOut">
              <a:rPr lang="es-AR" smtClean="0"/>
              <a:t>31/7/2023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DCD6-44B5-4943-9C7E-9D43F50468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65703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7BC27-1280-45A7-A2A0-AE5BDB245C58}" type="datetimeFigureOut">
              <a:rPr lang="es-AR" smtClean="0"/>
              <a:t>31/7/2023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DCD6-44B5-4943-9C7E-9D43F50468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61086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7BC27-1280-45A7-A2A0-AE5BDB245C58}" type="datetimeFigureOut">
              <a:rPr lang="es-AR" smtClean="0"/>
              <a:t>31/7/2023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DCD6-44B5-4943-9C7E-9D43F50468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80643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6000">
              <a:schemeClr val="tx1">
                <a:lumMod val="85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2C7BC27-1280-45A7-A2A0-AE5BDB245C58}" type="datetimeFigureOut">
              <a:rPr lang="es-AR" smtClean="0"/>
              <a:t>31/7/2023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4DCD6-44B5-4943-9C7E-9D43F504688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687389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5" r:id="rId12"/>
    <p:sldLayoutId id="2147483896" r:id="rId13"/>
    <p:sldLayoutId id="2147483897" r:id="rId14"/>
    <p:sldLayoutId id="2147483898" r:id="rId15"/>
    <p:sldLayoutId id="2147483899" r:id="rId16"/>
    <p:sldLayoutId id="214748390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75062" y="1267300"/>
            <a:ext cx="9005428" cy="1550043"/>
          </a:xfrm>
        </p:spPr>
        <p:txBody>
          <a:bodyPr/>
          <a:lstStyle/>
          <a:p>
            <a:pPr algn="ctr"/>
            <a:r>
              <a:rPr lang="es-AR" sz="4800" b="1" i="1" dirty="0" smtClean="0">
                <a:solidFill>
                  <a:srgbClr val="B80000"/>
                </a:solidFill>
              </a:rPr>
              <a:t>Reunión informativa con Departamento Pedagógicos</a:t>
            </a:r>
            <a:endParaRPr lang="es-AR" sz="4800" b="1" i="1" dirty="0">
              <a:solidFill>
                <a:srgbClr val="B80000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93772" y="5419493"/>
            <a:ext cx="5684004" cy="995376"/>
          </a:xfrm>
        </p:spPr>
        <p:txBody>
          <a:bodyPr>
            <a:normAutofit fontScale="70000" lnSpcReduction="20000"/>
          </a:bodyPr>
          <a:lstStyle/>
          <a:p>
            <a:r>
              <a:rPr lang="es-AR" b="1" dirty="0" smtClean="0">
                <a:solidFill>
                  <a:schemeClr val="bg2">
                    <a:lumMod val="75000"/>
                  </a:schemeClr>
                </a:solidFill>
              </a:rPr>
              <a:t>SECRETARIA ADMINISTRATIVA</a:t>
            </a:r>
          </a:p>
          <a:p>
            <a:r>
              <a:rPr lang="es-AR" b="1" dirty="0" smtClean="0">
                <a:solidFill>
                  <a:schemeClr val="bg2">
                    <a:lumMod val="75000"/>
                  </a:schemeClr>
                </a:solidFill>
              </a:rPr>
              <a:t>SUB-SECRETARIA ADMINISTRATIVA</a:t>
            </a:r>
          </a:p>
          <a:p>
            <a:r>
              <a:rPr lang="es-AR" b="1" dirty="0" smtClean="0">
                <a:solidFill>
                  <a:schemeClr val="bg2">
                    <a:lumMod val="75000"/>
                  </a:schemeClr>
                </a:solidFill>
              </a:rPr>
              <a:t>SUB-SECRETARIA DE SISTEMAS INTEGRALES Y COMUNICACION</a:t>
            </a:r>
            <a:endParaRPr lang="es-AR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9973994" y="5744277"/>
            <a:ext cx="1659987" cy="4698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s-AR" b="1" dirty="0" smtClean="0">
                <a:solidFill>
                  <a:schemeClr val="bg2">
                    <a:lumMod val="75000"/>
                  </a:schemeClr>
                </a:solidFill>
              </a:rPr>
              <a:t>__/8/2023</a:t>
            </a:r>
            <a:endParaRPr lang="es-AR" b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626151" y="3311313"/>
            <a:ext cx="7103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600" b="1" i="1" u="sng" dirty="0" smtClean="0">
                <a:solidFill>
                  <a:srgbClr val="0070C0"/>
                </a:solidFill>
              </a:rPr>
              <a:t>Informe de </a:t>
            </a:r>
            <a:r>
              <a:rPr lang="es-AR" sz="3600" b="1" i="1" u="sng" dirty="0" smtClean="0">
                <a:solidFill>
                  <a:srgbClr val="0070C0"/>
                </a:solidFill>
              </a:rPr>
              <a:t>Gestión 2022-2023</a:t>
            </a:r>
            <a:endParaRPr lang="es-AR" sz="3600" b="1" i="1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2210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redondeado 16"/>
          <p:cNvSpPr/>
          <p:nvPr/>
        </p:nvSpPr>
        <p:spPr>
          <a:xfrm>
            <a:off x="875121" y="5176206"/>
            <a:ext cx="10482552" cy="12783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Rectángulo redondeado 14"/>
          <p:cNvSpPr/>
          <p:nvPr/>
        </p:nvSpPr>
        <p:spPr>
          <a:xfrm>
            <a:off x="876011" y="3344760"/>
            <a:ext cx="10482552" cy="173336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Rectángulo redondeado 12"/>
          <p:cNvSpPr/>
          <p:nvPr/>
        </p:nvSpPr>
        <p:spPr>
          <a:xfrm>
            <a:off x="876011" y="1467038"/>
            <a:ext cx="10482552" cy="173336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1110934" y="572598"/>
            <a:ext cx="6520856" cy="89444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4000" b="1" u="sng" dirty="0" smtClean="0">
                <a:solidFill>
                  <a:srgbClr val="B80000"/>
                </a:solidFill>
              </a:rPr>
              <a:t>Objetivos de la reunión:</a:t>
            </a:r>
            <a:endParaRPr lang="es-AR" sz="4000" b="1" u="sng" dirty="0">
              <a:solidFill>
                <a:srgbClr val="B80000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247529" y="1579182"/>
            <a:ext cx="81110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AR" sz="2000" b="1" i="1" dirty="0" smtClean="0">
                <a:solidFill>
                  <a:srgbClr val="B80000"/>
                </a:solidFill>
              </a:rPr>
              <a:t>Tomar conocimiento del estado actual de la planta docente ordinaria de la </a:t>
            </a:r>
            <a:r>
              <a:rPr lang="es-AR" sz="2000" b="1" i="1" dirty="0" smtClean="0">
                <a:solidFill>
                  <a:srgbClr val="B80000"/>
                </a:solidFill>
              </a:rPr>
              <a:t>Facultad.</a:t>
            </a:r>
            <a:endParaRPr lang="es-AR" sz="2000" b="1" i="1" dirty="0">
              <a:solidFill>
                <a:srgbClr val="B80000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3247529" y="2397003"/>
            <a:ext cx="80304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AR"/>
            </a:defPPr>
            <a:lvl1pPr marL="285750" indent="-285750">
              <a:buFont typeface="Wingdings" panose="05000000000000000000" pitchFamily="2" charset="2"/>
              <a:buChar char="Ø"/>
              <a:defRPr sz="2000">
                <a:solidFill>
                  <a:schemeClr val="tx2">
                    <a:lumMod val="10000"/>
                  </a:schemeClr>
                </a:solidFill>
              </a:defRPr>
            </a:lvl1pPr>
          </a:lstStyle>
          <a:p>
            <a:r>
              <a:rPr lang="es-AR" b="1" i="1" dirty="0" smtClean="0"/>
              <a:t>Conocer </a:t>
            </a:r>
            <a:r>
              <a:rPr lang="es-AR" b="1" i="1" dirty="0" smtClean="0"/>
              <a:t>la distribución Departamental de los cargos y mayores dedicaciones.</a:t>
            </a:r>
            <a:endParaRPr lang="es-AR" b="1" i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3278567" y="4262438"/>
            <a:ext cx="77351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AR"/>
            </a:defPPr>
            <a:lvl1pPr marL="285750" indent="-285750">
              <a:buFont typeface="Wingdings" panose="05000000000000000000" pitchFamily="2" charset="2"/>
              <a:buChar char="Ø"/>
              <a:defRPr sz="2000" b="1" i="1">
                <a:solidFill>
                  <a:schemeClr val="tx2">
                    <a:lumMod val="10000"/>
                  </a:schemeClr>
                </a:solidFill>
              </a:defRPr>
            </a:lvl1pPr>
          </a:lstStyle>
          <a:p>
            <a:r>
              <a:rPr lang="es-AR" dirty="0"/>
              <a:t>Conocer </a:t>
            </a:r>
            <a:r>
              <a:rPr lang="es-AR" dirty="0" smtClean="0"/>
              <a:t>el estado de ejecución del presupuesto y la distribución a nivel Departamental.</a:t>
            </a:r>
            <a:endParaRPr lang="es-AR" dirty="0"/>
          </a:p>
        </p:txBody>
      </p:sp>
      <p:sp>
        <p:nvSpPr>
          <p:cNvPr id="8" name="CuadroTexto 7"/>
          <p:cNvSpPr txBox="1"/>
          <p:nvPr/>
        </p:nvSpPr>
        <p:spPr>
          <a:xfrm>
            <a:off x="3247529" y="3535114"/>
            <a:ext cx="72152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AR"/>
            </a:defPPr>
            <a:lvl1pPr marL="285750" indent="-285750">
              <a:buFont typeface="Wingdings" panose="05000000000000000000" pitchFamily="2" charset="2"/>
              <a:buChar char="Ø"/>
              <a:defRPr sz="2000" b="1" i="1">
                <a:solidFill>
                  <a:srgbClr val="B80000"/>
                </a:solidFill>
              </a:defRPr>
            </a:lvl1pPr>
          </a:lstStyle>
          <a:p>
            <a:r>
              <a:rPr lang="es-AR" dirty="0"/>
              <a:t>Conocer el estado presupuestario de la Facultad, su </a:t>
            </a:r>
            <a:r>
              <a:rPr lang="es-AR" dirty="0" smtClean="0"/>
              <a:t>distribución.</a:t>
            </a:r>
            <a:endParaRPr lang="es-AR" dirty="0"/>
          </a:p>
        </p:txBody>
      </p:sp>
      <p:sp>
        <p:nvSpPr>
          <p:cNvPr id="10" name="CuadroTexto 9"/>
          <p:cNvSpPr txBox="1"/>
          <p:nvPr/>
        </p:nvSpPr>
        <p:spPr>
          <a:xfrm>
            <a:off x="3278567" y="5426051"/>
            <a:ext cx="8048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AR"/>
            </a:defPPr>
            <a:lvl1pPr marL="285750" indent="-285750">
              <a:buFont typeface="Wingdings" panose="05000000000000000000" pitchFamily="2" charset="2"/>
              <a:buChar char="Ø"/>
              <a:defRPr sz="2400">
                <a:solidFill>
                  <a:srgbClr val="B80000"/>
                </a:solidFill>
              </a:defRPr>
            </a:lvl1pPr>
          </a:lstStyle>
          <a:p>
            <a:r>
              <a:rPr lang="es-AR" sz="2000" b="1" i="1" dirty="0"/>
              <a:t>Presentar las obras de infraestructura </a:t>
            </a:r>
            <a:r>
              <a:rPr lang="es-AR" sz="2000" b="1" i="1" dirty="0" smtClean="0"/>
              <a:t>llevadas </a:t>
            </a:r>
            <a:r>
              <a:rPr lang="es-AR" sz="2000" b="1" i="1" dirty="0"/>
              <a:t>a cabo desde el inicio de la gestión y planificadas para el resto del año.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203799" y="1699759"/>
            <a:ext cx="18979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b="1" i="1" u="sng" dirty="0" smtClean="0">
                <a:solidFill>
                  <a:srgbClr val="960000"/>
                </a:solidFill>
              </a:rPr>
              <a:t>Gestión de Recursos</a:t>
            </a:r>
            <a:r>
              <a:rPr lang="es-AR" sz="3200" b="1" i="1" u="sng" dirty="0" smtClean="0">
                <a:solidFill>
                  <a:srgbClr val="960000"/>
                </a:solidFill>
              </a:rPr>
              <a:t> </a:t>
            </a:r>
            <a:r>
              <a:rPr lang="es-AR" sz="2400" b="1" i="1" u="sng" dirty="0" smtClean="0">
                <a:solidFill>
                  <a:srgbClr val="960000"/>
                </a:solidFill>
              </a:rPr>
              <a:t>Humanos</a:t>
            </a:r>
            <a:endParaRPr lang="es-AR" sz="3200" b="1" i="1" dirty="0">
              <a:solidFill>
                <a:srgbClr val="960000"/>
              </a:solidFill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875121" y="3692689"/>
            <a:ext cx="2462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b="1" i="1" u="sng" dirty="0" smtClean="0">
                <a:solidFill>
                  <a:srgbClr val="960000"/>
                </a:solidFill>
              </a:rPr>
              <a:t>Gestión Presupuestaria</a:t>
            </a:r>
            <a:endParaRPr lang="es-AR" sz="2400" b="1" i="1" dirty="0">
              <a:solidFill>
                <a:srgbClr val="960000"/>
              </a:solidFill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921410" y="5222482"/>
            <a:ext cx="2462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b="1" i="1" u="sng" dirty="0" smtClean="0">
                <a:solidFill>
                  <a:srgbClr val="960000"/>
                </a:solidFill>
              </a:rPr>
              <a:t>Gestión en Infraestructura, </a:t>
            </a:r>
            <a:r>
              <a:rPr lang="es-AR" sz="2400" b="1" i="1" u="sng" dirty="0" err="1" smtClean="0">
                <a:solidFill>
                  <a:srgbClr val="960000"/>
                </a:solidFill>
              </a:rPr>
              <a:t>HyS</a:t>
            </a:r>
            <a:r>
              <a:rPr lang="es-AR" sz="2400" b="1" i="1" u="sng" dirty="0" smtClean="0">
                <a:solidFill>
                  <a:srgbClr val="960000"/>
                </a:solidFill>
              </a:rPr>
              <a:t> y TIC</a:t>
            </a:r>
            <a:endParaRPr lang="es-AR" sz="2400" b="1" i="1" dirty="0">
              <a:solidFill>
                <a:srgbClr val="96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5787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863380" y="647206"/>
            <a:ext cx="8474788" cy="7994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4000" b="1" u="sng" dirty="0">
                <a:solidFill>
                  <a:srgbClr val="B80000"/>
                </a:solidFill>
              </a:rPr>
              <a:t>Gestión de Recursos Humanos</a:t>
            </a:r>
          </a:p>
        </p:txBody>
      </p:sp>
      <p:sp>
        <p:nvSpPr>
          <p:cNvPr id="150" name="CuadroTexto 149"/>
          <p:cNvSpPr txBox="1"/>
          <p:nvPr/>
        </p:nvSpPr>
        <p:spPr>
          <a:xfrm>
            <a:off x="846162" y="1477781"/>
            <a:ext cx="5751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Situación general a nivel Facultad:</a:t>
            </a:r>
            <a:endParaRPr lang="es-AR" sz="24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261307" y="2280021"/>
            <a:ext cx="5960199" cy="3717782"/>
            <a:chOff x="261307" y="2280021"/>
            <a:chExt cx="5960199" cy="3717782"/>
          </a:xfrm>
        </p:grpSpPr>
        <p:sp>
          <p:nvSpPr>
            <p:cNvPr id="17" name="CuadroTexto 16"/>
            <p:cNvSpPr txBox="1"/>
            <p:nvPr/>
          </p:nvSpPr>
          <p:spPr>
            <a:xfrm>
              <a:off x="1622574" y="5690026"/>
              <a:ext cx="37171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1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Distribución porcentual TOTAL.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  <p:pic>
          <p:nvPicPr>
            <p:cNvPr id="5" name="Imagen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1307" y="2280021"/>
              <a:ext cx="5960199" cy="3377207"/>
            </a:xfrm>
            <a:prstGeom prst="rect">
              <a:avLst/>
            </a:prstGeom>
            <a:ln w="19050">
              <a:solidFill>
                <a:srgbClr val="960000"/>
              </a:solidFill>
            </a:ln>
          </p:spPr>
        </p:pic>
      </p:grpSp>
      <p:grpSp>
        <p:nvGrpSpPr>
          <p:cNvPr id="8" name="Grupo 7"/>
          <p:cNvGrpSpPr/>
          <p:nvPr/>
        </p:nvGrpSpPr>
        <p:grpSpPr>
          <a:xfrm>
            <a:off x="6499412" y="2280021"/>
            <a:ext cx="5203102" cy="3979392"/>
            <a:chOff x="6499412" y="2280021"/>
            <a:chExt cx="5203102" cy="3979392"/>
          </a:xfrm>
        </p:grpSpPr>
        <p:sp>
          <p:nvSpPr>
            <p:cNvPr id="16" name="CuadroTexto 15"/>
            <p:cNvSpPr txBox="1"/>
            <p:nvPr/>
          </p:nvSpPr>
          <p:spPr>
            <a:xfrm>
              <a:off x="7468116" y="5736193"/>
              <a:ext cx="32656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2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Distribución cuantitativa por sub-claustro y dedicación.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  <p:pic>
          <p:nvPicPr>
            <p:cNvPr id="6" name="Imagen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99412" y="2280021"/>
              <a:ext cx="5203102" cy="3382579"/>
            </a:xfrm>
            <a:prstGeom prst="rect">
              <a:avLst/>
            </a:prstGeom>
            <a:ln w="19050">
              <a:solidFill>
                <a:srgbClr val="960000"/>
              </a:solidFill>
            </a:ln>
          </p:spPr>
        </p:pic>
      </p:grpSp>
      <p:grpSp>
        <p:nvGrpSpPr>
          <p:cNvPr id="18" name="Grupo 17"/>
          <p:cNvGrpSpPr/>
          <p:nvPr/>
        </p:nvGrpSpPr>
        <p:grpSpPr>
          <a:xfrm>
            <a:off x="5031991" y="4758707"/>
            <a:ext cx="2656936" cy="1362554"/>
            <a:chOff x="6021238" y="4149725"/>
            <a:chExt cx="2656936" cy="1362554"/>
          </a:xfrm>
        </p:grpSpPr>
        <p:sp>
          <p:nvSpPr>
            <p:cNvPr id="19" name="Rectángulo redondeado 18"/>
            <p:cNvSpPr/>
            <p:nvPr/>
          </p:nvSpPr>
          <p:spPr>
            <a:xfrm>
              <a:off x="6021238" y="4149725"/>
              <a:ext cx="2656936" cy="136255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6143751" y="4265982"/>
              <a:ext cx="2474037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3200" b="1" i="1" u="sng" dirty="0" smtClean="0">
                  <a:solidFill>
                    <a:srgbClr val="960000"/>
                  </a:solidFill>
                </a:rPr>
                <a:t>TOTAL: </a:t>
              </a:r>
            </a:p>
            <a:p>
              <a:pPr algn="ctr"/>
              <a:r>
                <a:rPr lang="es-AR" sz="3200" b="1" i="1" dirty="0" smtClean="0">
                  <a:solidFill>
                    <a:srgbClr val="960000"/>
                  </a:solidFill>
                </a:rPr>
                <a:t>561 cargos</a:t>
              </a:r>
              <a:endParaRPr lang="es-AR" sz="3200" b="1" i="1" dirty="0">
                <a:solidFill>
                  <a:srgbClr val="96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38977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863380" y="647206"/>
            <a:ext cx="8474788" cy="7994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4000" b="1" u="sng" dirty="0">
                <a:solidFill>
                  <a:srgbClr val="B80000"/>
                </a:solidFill>
              </a:rPr>
              <a:t>Gestión de Recursos Humanos</a:t>
            </a:r>
          </a:p>
        </p:txBody>
      </p:sp>
      <p:sp>
        <p:nvSpPr>
          <p:cNvPr id="150" name="CuadroTexto 149"/>
          <p:cNvSpPr txBox="1"/>
          <p:nvPr/>
        </p:nvSpPr>
        <p:spPr>
          <a:xfrm>
            <a:off x="846162" y="1477781"/>
            <a:ext cx="7616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Situación actual discriminada por Departamento:</a:t>
            </a:r>
            <a:endParaRPr lang="es-AR" sz="24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6163840" y="2108908"/>
            <a:ext cx="5499997" cy="4524058"/>
            <a:chOff x="6163840" y="2108908"/>
            <a:chExt cx="5499997" cy="4524058"/>
          </a:xfrm>
        </p:grpSpPr>
        <p:pic>
          <p:nvPicPr>
            <p:cNvPr id="3" name="Imagen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63840" y="2108908"/>
              <a:ext cx="5499997" cy="4008601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16" name="CuadroTexto 15"/>
            <p:cNvSpPr txBox="1"/>
            <p:nvPr/>
          </p:nvSpPr>
          <p:spPr>
            <a:xfrm>
              <a:off x="7351359" y="6109746"/>
              <a:ext cx="32656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4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Distribución cuantitativa por </a:t>
              </a:r>
              <a:r>
                <a:rPr lang="es-AR" sz="1400" b="1" i="1" dirty="0" err="1" smtClean="0">
                  <a:solidFill>
                    <a:srgbClr val="0070C0"/>
                  </a:solidFill>
                </a:rPr>
                <a:t>sub-claustro;dedicación;Dpto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5" name="Grupo 4"/>
          <p:cNvGrpSpPr/>
          <p:nvPr/>
        </p:nvGrpSpPr>
        <p:grpSpPr>
          <a:xfrm>
            <a:off x="542365" y="2108908"/>
            <a:ext cx="5472768" cy="4347545"/>
            <a:chOff x="542365" y="2108908"/>
            <a:chExt cx="5472768" cy="4347545"/>
          </a:xfrm>
        </p:grpSpPr>
        <p:pic>
          <p:nvPicPr>
            <p:cNvPr id="2" name="Imagen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2365" y="2108908"/>
              <a:ext cx="5472768" cy="4008601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17" name="CuadroTexto 16"/>
            <p:cNvSpPr txBox="1"/>
            <p:nvPr/>
          </p:nvSpPr>
          <p:spPr>
            <a:xfrm>
              <a:off x="1622574" y="6148676"/>
              <a:ext cx="37171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3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Distribución porcentual por Dpto.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09899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redondeado 29"/>
          <p:cNvSpPr/>
          <p:nvPr/>
        </p:nvSpPr>
        <p:spPr>
          <a:xfrm>
            <a:off x="690859" y="5802968"/>
            <a:ext cx="2419894" cy="40011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863380" y="647206"/>
            <a:ext cx="7877208" cy="7994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4000" b="1" u="sng" dirty="0" smtClean="0">
                <a:solidFill>
                  <a:srgbClr val="B80000"/>
                </a:solidFill>
              </a:rPr>
              <a:t>Gestión de Recursos Humanos</a:t>
            </a:r>
            <a:endParaRPr lang="es-AR" sz="4000" b="1" u="sng" dirty="0">
              <a:solidFill>
                <a:srgbClr val="B80000"/>
              </a:solidFill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846162" y="1477781"/>
            <a:ext cx="7284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Situación actual de LSGH por Departamento:</a:t>
            </a:r>
            <a:endParaRPr lang="es-AR" sz="24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12" name="Grupo 11"/>
          <p:cNvGrpSpPr/>
          <p:nvPr/>
        </p:nvGrpSpPr>
        <p:grpSpPr>
          <a:xfrm>
            <a:off x="391968" y="2156339"/>
            <a:ext cx="5531347" cy="3075728"/>
            <a:chOff x="391968" y="2156339"/>
            <a:chExt cx="5531347" cy="3075728"/>
          </a:xfrm>
        </p:grpSpPr>
        <p:sp>
          <p:nvSpPr>
            <p:cNvPr id="17" name="CuadroTexto 16"/>
            <p:cNvSpPr txBox="1"/>
            <p:nvPr/>
          </p:nvSpPr>
          <p:spPr>
            <a:xfrm>
              <a:off x="1383632" y="4708847"/>
              <a:ext cx="37171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5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Distribución cuantitativa de LSGH por Dpto.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1968" y="2156339"/>
              <a:ext cx="5531347" cy="2552508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</p:pic>
      </p:grpSp>
      <p:sp>
        <p:nvSpPr>
          <p:cNvPr id="21" name="Flecha abajo 20"/>
          <p:cNvSpPr/>
          <p:nvPr/>
        </p:nvSpPr>
        <p:spPr>
          <a:xfrm rot="16200000">
            <a:off x="6018459" y="3116396"/>
            <a:ext cx="727145" cy="8133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Abrir llave 9"/>
          <p:cNvSpPr/>
          <p:nvPr/>
        </p:nvSpPr>
        <p:spPr>
          <a:xfrm rot="5400000">
            <a:off x="1890366" y="4020363"/>
            <a:ext cx="317086" cy="2751957"/>
          </a:xfrm>
          <a:prstGeom prst="leftBrace">
            <a:avLst/>
          </a:prstGeom>
          <a:noFill/>
          <a:ln w="28575">
            <a:solidFill>
              <a:schemeClr val="tx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672930" y="5391090"/>
            <a:ext cx="2814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8913" indent="-188913">
              <a:buFont typeface="Arial" panose="020B0604020202020204" pitchFamily="34" charset="0"/>
              <a:buChar char="•"/>
            </a:pPr>
            <a:r>
              <a:rPr lang="es-AR" sz="2000" b="1" i="1" dirty="0" smtClean="0">
                <a:solidFill>
                  <a:schemeClr val="bg2">
                    <a:lumMod val="50000"/>
                  </a:schemeClr>
                </a:solidFill>
              </a:rPr>
              <a:t>Motivos personales</a:t>
            </a:r>
          </a:p>
        </p:txBody>
      </p:sp>
      <p:sp>
        <p:nvSpPr>
          <p:cNvPr id="26" name="CuadroTexto 25"/>
          <p:cNvSpPr txBox="1"/>
          <p:nvPr/>
        </p:nvSpPr>
        <p:spPr>
          <a:xfrm>
            <a:off x="672932" y="5791200"/>
            <a:ext cx="2455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8913" indent="-188913">
              <a:buFont typeface="Arial" panose="020B0604020202020204" pitchFamily="34" charset="0"/>
              <a:buChar char="•"/>
            </a:pPr>
            <a:r>
              <a:rPr lang="es-AR" sz="2000" b="1" i="1" dirty="0" smtClean="0">
                <a:solidFill>
                  <a:schemeClr val="bg2">
                    <a:lumMod val="50000"/>
                  </a:schemeClr>
                </a:solidFill>
              </a:rPr>
              <a:t>Mayor jerarquía.</a:t>
            </a:r>
          </a:p>
        </p:txBody>
      </p:sp>
      <p:sp>
        <p:nvSpPr>
          <p:cNvPr id="27" name="CuadroTexto 26"/>
          <p:cNvSpPr txBox="1"/>
          <p:nvPr/>
        </p:nvSpPr>
        <p:spPr>
          <a:xfrm>
            <a:off x="672931" y="6169573"/>
            <a:ext cx="1389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8913" indent="-188913">
              <a:buFont typeface="Arial" panose="020B0604020202020204" pitchFamily="34" charset="0"/>
              <a:buChar char="•"/>
            </a:pPr>
            <a:r>
              <a:rPr lang="es-AR" sz="2000" b="1" i="1" dirty="0" smtClean="0">
                <a:solidFill>
                  <a:schemeClr val="bg2">
                    <a:lumMod val="50000"/>
                  </a:schemeClr>
                </a:solidFill>
              </a:rPr>
              <a:t>Estudio.</a:t>
            </a:r>
          </a:p>
        </p:txBody>
      </p:sp>
      <p:grpSp>
        <p:nvGrpSpPr>
          <p:cNvPr id="31" name="Grupo 30"/>
          <p:cNvGrpSpPr/>
          <p:nvPr/>
        </p:nvGrpSpPr>
        <p:grpSpPr>
          <a:xfrm>
            <a:off x="4208427" y="5255499"/>
            <a:ext cx="2208775" cy="1550542"/>
            <a:chOff x="5758444" y="4144305"/>
            <a:chExt cx="2494383" cy="2104178"/>
          </a:xfrm>
        </p:grpSpPr>
        <p:sp>
          <p:nvSpPr>
            <p:cNvPr id="32" name="Rectángulo redondeado 31"/>
            <p:cNvSpPr/>
            <p:nvPr/>
          </p:nvSpPr>
          <p:spPr>
            <a:xfrm>
              <a:off x="5758444" y="4144305"/>
              <a:ext cx="2494383" cy="1827632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3" name="CuadroTexto 32"/>
            <p:cNvSpPr txBox="1"/>
            <p:nvPr/>
          </p:nvSpPr>
          <p:spPr>
            <a:xfrm>
              <a:off x="5780342" y="4243661"/>
              <a:ext cx="2472484" cy="2004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b="1" i="1" u="sng" dirty="0" smtClean="0">
                  <a:solidFill>
                    <a:srgbClr val="960000"/>
                  </a:solidFill>
                </a:rPr>
                <a:t>Programa de Jerarquización de Auxiliares (Res</a:t>
              </a:r>
              <a:r>
                <a:rPr lang="es-AR" b="1" i="1" u="sng" dirty="0" smtClean="0">
                  <a:solidFill>
                    <a:srgbClr val="960000"/>
                  </a:solidFill>
                </a:rPr>
                <a:t>. 0879/22 </a:t>
              </a:r>
              <a:r>
                <a:rPr lang="es-AR" b="1" i="1" u="sng" dirty="0" smtClean="0">
                  <a:solidFill>
                    <a:srgbClr val="960000"/>
                  </a:solidFill>
                </a:rPr>
                <a:t>CD)</a:t>
              </a:r>
              <a:endParaRPr lang="es-AR" b="1" i="1" dirty="0">
                <a:solidFill>
                  <a:srgbClr val="960000"/>
                </a:solidFill>
              </a:endParaRPr>
            </a:p>
          </p:txBody>
        </p:sp>
      </p:grpSp>
      <p:sp>
        <p:nvSpPr>
          <p:cNvPr id="34" name="Flecha abajo 33"/>
          <p:cNvSpPr/>
          <p:nvPr/>
        </p:nvSpPr>
        <p:spPr>
          <a:xfrm rot="16200000">
            <a:off x="3491488" y="5535580"/>
            <a:ext cx="335275" cy="9113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3" name="Grupo 2"/>
          <p:cNvGrpSpPr/>
          <p:nvPr/>
        </p:nvGrpSpPr>
        <p:grpSpPr>
          <a:xfrm>
            <a:off x="6914979" y="2060329"/>
            <a:ext cx="4763181" cy="4142749"/>
            <a:chOff x="6914979" y="2060329"/>
            <a:chExt cx="4763181" cy="4142749"/>
          </a:xfrm>
        </p:grpSpPr>
        <p:sp>
          <p:nvSpPr>
            <p:cNvPr id="16" name="CuadroTexto 15"/>
            <p:cNvSpPr txBox="1"/>
            <p:nvPr/>
          </p:nvSpPr>
          <p:spPr>
            <a:xfrm>
              <a:off x="7403323" y="5679858"/>
              <a:ext cx="32656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6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Gráfico porcentual de LSGH por Dpto.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  <p:pic>
          <p:nvPicPr>
            <p:cNvPr id="2" name="Imagen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14979" y="2060329"/>
              <a:ext cx="4763181" cy="3494556"/>
            </a:xfrm>
            <a:prstGeom prst="rect">
              <a:avLst/>
            </a:prstGeom>
            <a:ln w="19050">
              <a:solidFill>
                <a:srgbClr val="C0000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239353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1" grpId="0" animBg="1"/>
      <p:bldP spid="10" grpId="0" animBg="1"/>
      <p:bldP spid="25" grpId="0"/>
      <p:bldP spid="26" grpId="0"/>
      <p:bldP spid="27" grpId="0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863380" y="647206"/>
            <a:ext cx="7877208" cy="7994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4000" b="1" u="sng" dirty="0" smtClean="0">
                <a:solidFill>
                  <a:srgbClr val="B80000"/>
                </a:solidFill>
              </a:rPr>
              <a:t>Gestión de Recursos Humanos</a:t>
            </a:r>
            <a:endParaRPr lang="es-AR" sz="4000" b="1" u="sng" dirty="0">
              <a:solidFill>
                <a:srgbClr val="B80000"/>
              </a:solidFill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863380" y="1354168"/>
            <a:ext cx="9364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Programa de Jerarquización de Auxiliares Doc. de 1ra a JTP:</a:t>
            </a:r>
            <a:endParaRPr lang="es-AR" sz="24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24" y="2023258"/>
            <a:ext cx="5510213" cy="3006775"/>
          </a:xfrm>
          <a:prstGeom prst="rect">
            <a:avLst/>
          </a:prstGeom>
          <a:solidFill>
            <a:schemeClr val="accent2"/>
          </a:solidFill>
          <a:ln w="28575">
            <a:solidFill>
              <a:srgbClr val="960000"/>
            </a:solidFill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76" y="3269560"/>
            <a:ext cx="5527431" cy="2519259"/>
          </a:xfrm>
          <a:prstGeom prst="rect">
            <a:avLst/>
          </a:prstGeom>
          <a:solidFill>
            <a:schemeClr val="accent2"/>
          </a:solidFill>
          <a:ln w="28575">
            <a:solidFill>
              <a:srgbClr val="960000"/>
            </a:solidFill>
          </a:ln>
        </p:spPr>
      </p:pic>
      <p:sp>
        <p:nvSpPr>
          <p:cNvPr id="10" name="Abrir llave 9"/>
          <p:cNvSpPr/>
          <p:nvPr/>
        </p:nvSpPr>
        <p:spPr>
          <a:xfrm>
            <a:off x="6173979" y="2164415"/>
            <a:ext cx="615299" cy="3263582"/>
          </a:xfrm>
          <a:prstGeom prst="leftBrace">
            <a:avLst/>
          </a:prstGeom>
          <a:noFill/>
          <a:ln w="28575">
            <a:solidFill>
              <a:schemeClr val="tx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1254716" y="5868355"/>
            <a:ext cx="4003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400" b="1" i="1" u="sng" dirty="0" smtClean="0">
                <a:solidFill>
                  <a:srgbClr val="0070C0"/>
                </a:solidFill>
              </a:rPr>
              <a:t>Fig. </a:t>
            </a:r>
            <a:r>
              <a:rPr lang="es-AR" sz="1400" b="1" i="1" u="sng" dirty="0" smtClean="0">
                <a:solidFill>
                  <a:srgbClr val="0070C0"/>
                </a:solidFill>
              </a:rPr>
              <a:t>7</a:t>
            </a:r>
            <a:r>
              <a:rPr lang="es-AR" sz="1400" b="1" i="1" dirty="0" smtClean="0">
                <a:solidFill>
                  <a:srgbClr val="0070C0"/>
                </a:solidFill>
              </a:rPr>
              <a:t>: a) </a:t>
            </a:r>
            <a:r>
              <a:rPr lang="es-AR" sz="1400" b="1" i="1" dirty="0" err="1" smtClean="0">
                <a:solidFill>
                  <a:srgbClr val="0070C0"/>
                </a:solidFill>
              </a:rPr>
              <a:t>Exp</a:t>
            </a:r>
            <a:r>
              <a:rPr lang="es-AR" sz="1400" b="1" i="1" dirty="0" smtClean="0">
                <a:solidFill>
                  <a:srgbClr val="0070C0"/>
                </a:solidFill>
              </a:rPr>
              <a:t>. Iniciado por la Subsecretaría; b) Articulado de la Resolución.</a:t>
            </a:r>
            <a:endParaRPr lang="es-AR" sz="1400" b="1" i="1" dirty="0">
              <a:solidFill>
                <a:srgbClr val="0070C0"/>
              </a:solidFill>
            </a:endParaRPr>
          </a:p>
        </p:txBody>
      </p:sp>
      <p:grpSp>
        <p:nvGrpSpPr>
          <p:cNvPr id="13" name="Grupo 12"/>
          <p:cNvGrpSpPr/>
          <p:nvPr/>
        </p:nvGrpSpPr>
        <p:grpSpPr>
          <a:xfrm>
            <a:off x="7145313" y="2777286"/>
            <a:ext cx="4771373" cy="2252747"/>
            <a:chOff x="5820757" y="4119868"/>
            <a:chExt cx="4238216" cy="1777683"/>
          </a:xfrm>
        </p:grpSpPr>
        <p:sp>
          <p:nvSpPr>
            <p:cNvPr id="14" name="Rectángulo redondeado 13"/>
            <p:cNvSpPr/>
            <p:nvPr/>
          </p:nvSpPr>
          <p:spPr>
            <a:xfrm>
              <a:off x="5820757" y="4119868"/>
              <a:ext cx="4238216" cy="1777683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5" name="CuadroTexto 14"/>
            <p:cNvSpPr txBox="1"/>
            <p:nvPr/>
          </p:nvSpPr>
          <p:spPr>
            <a:xfrm>
              <a:off x="5820757" y="4243662"/>
              <a:ext cx="4238216" cy="15300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i="1" u="sng" dirty="0" smtClean="0">
                  <a:solidFill>
                    <a:srgbClr val="960000"/>
                  </a:solidFill>
                </a:rPr>
                <a:t>Criterios de jerarquización: </a:t>
              </a:r>
              <a:endParaRPr lang="es-AR" sz="2400" b="1" i="1" u="sng" dirty="0" smtClean="0">
                <a:solidFill>
                  <a:srgbClr val="960000"/>
                </a:solidFill>
              </a:endParaRPr>
            </a:p>
            <a:p>
              <a:pPr marL="185738" indent="-157163">
                <a:buFont typeface="Arial" panose="020B0604020202020204" pitchFamily="34" charset="0"/>
                <a:buChar char="•"/>
              </a:pPr>
              <a:r>
                <a:rPr lang="es-AR" sz="2400" i="1" dirty="0" smtClean="0">
                  <a:solidFill>
                    <a:srgbClr val="960000"/>
                  </a:solidFill>
                </a:rPr>
                <a:t>Antigüedad mayor a 5 años.</a:t>
              </a:r>
            </a:p>
            <a:p>
              <a:pPr marL="185738" indent="-157163">
                <a:buFont typeface="Arial" panose="020B0604020202020204" pitchFamily="34" charset="0"/>
                <a:buChar char="•"/>
              </a:pPr>
              <a:r>
                <a:rPr lang="es-AR" sz="2400" i="1" dirty="0" smtClean="0">
                  <a:solidFill>
                    <a:srgbClr val="960000"/>
                  </a:solidFill>
                </a:rPr>
                <a:t>Único cargo en la Facultad.</a:t>
              </a:r>
            </a:p>
            <a:p>
              <a:pPr marL="185738" indent="-157163">
                <a:buFont typeface="Arial" panose="020B0604020202020204" pitchFamily="34" charset="0"/>
                <a:buChar char="•"/>
              </a:pPr>
              <a:r>
                <a:rPr lang="es-AR" sz="2400" i="1" dirty="0" smtClean="0">
                  <a:solidFill>
                    <a:srgbClr val="960000"/>
                  </a:solidFill>
                </a:rPr>
                <a:t>Docente con Dedicación Simple.</a:t>
              </a:r>
              <a:endParaRPr lang="es-AR" sz="2400" i="1" dirty="0">
                <a:solidFill>
                  <a:srgbClr val="960000"/>
                </a:solidFill>
              </a:endParaRPr>
            </a:p>
          </p:txBody>
        </p:sp>
      </p:grpSp>
      <p:sp>
        <p:nvSpPr>
          <p:cNvPr id="16" name="Flecha abajo 15"/>
          <p:cNvSpPr/>
          <p:nvPr/>
        </p:nvSpPr>
        <p:spPr>
          <a:xfrm rot="16200000">
            <a:off x="6180944" y="3394927"/>
            <a:ext cx="914349" cy="9282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7" name="Grupo 16"/>
          <p:cNvGrpSpPr/>
          <p:nvPr/>
        </p:nvGrpSpPr>
        <p:grpSpPr>
          <a:xfrm>
            <a:off x="6550533" y="2363726"/>
            <a:ext cx="5716080" cy="3281597"/>
            <a:chOff x="968384" y="4776642"/>
            <a:chExt cx="5117934" cy="2517612"/>
          </a:xfrm>
        </p:grpSpPr>
        <p:sp>
          <p:nvSpPr>
            <p:cNvPr id="18" name="Rectángulo redondeado 17"/>
            <p:cNvSpPr/>
            <p:nvPr/>
          </p:nvSpPr>
          <p:spPr>
            <a:xfrm>
              <a:off x="968384" y="4776642"/>
              <a:ext cx="4864193" cy="2197972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973157" y="4787773"/>
              <a:ext cx="5113161" cy="25064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200" b="1" i="1" u="sng" dirty="0" smtClean="0">
                  <a:solidFill>
                    <a:srgbClr val="960000"/>
                  </a:solidFill>
                </a:rPr>
                <a:t>Criterios de jerarquización: </a:t>
              </a:r>
              <a:endParaRPr lang="es-AR" sz="2200" b="1" i="1" u="sng" dirty="0" smtClean="0">
                <a:solidFill>
                  <a:srgbClr val="960000"/>
                </a:solidFill>
              </a:endParaRPr>
            </a:p>
            <a:p>
              <a:pPr marL="185738" indent="-157163">
                <a:buFont typeface="Arial" panose="020B0604020202020204" pitchFamily="34" charset="0"/>
                <a:buChar char="•"/>
              </a:pPr>
              <a:r>
                <a:rPr lang="es-AR" sz="2200" i="1" dirty="0" smtClean="0">
                  <a:solidFill>
                    <a:srgbClr val="960000"/>
                  </a:solidFill>
                </a:rPr>
                <a:t>Dpto. de Informática – 8 docentes.</a:t>
              </a:r>
            </a:p>
            <a:p>
              <a:pPr marL="185738" indent="-157163">
                <a:buFont typeface="Arial" panose="020B0604020202020204" pitchFamily="34" charset="0"/>
                <a:buChar char="•"/>
              </a:pPr>
              <a:r>
                <a:rPr lang="es-AR" sz="2200" i="1" dirty="0" smtClean="0">
                  <a:solidFill>
                    <a:srgbClr val="960000"/>
                  </a:solidFill>
                </a:rPr>
                <a:t>Dpto. de Bioquímica – 6 docentes.</a:t>
              </a:r>
            </a:p>
            <a:p>
              <a:pPr marL="185738" indent="-157163">
                <a:buFont typeface="Arial" panose="020B0604020202020204" pitchFamily="34" charset="0"/>
                <a:buChar char="•"/>
              </a:pPr>
              <a:r>
                <a:rPr lang="es-AR" sz="2200" i="1" dirty="0" smtClean="0">
                  <a:solidFill>
                    <a:srgbClr val="960000"/>
                  </a:solidFill>
                </a:rPr>
                <a:t>Dpto. de Ingeniería – 3 docentes.</a:t>
              </a:r>
            </a:p>
            <a:p>
              <a:pPr marL="185738" indent="-157163">
                <a:buFont typeface="Arial" panose="020B0604020202020204" pitchFamily="34" charset="0"/>
                <a:buChar char="•"/>
              </a:pPr>
              <a:r>
                <a:rPr lang="es-AR" sz="2200" i="1" dirty="0">
                  <a:solidFill>
                    <a:srgbClr val="960000"/>
                  </a:solidFill>
                </a:rPr>
                <a:t>Dpto. de </a:t>
              </a:r>
              <a:r>
                <a:rPr lang="es-AR" sz="2200" i="1" dirty="0" smtClean="0">
                  <a:solidFill>
                    <a:srgbClr val="960000"/>
                  </a:solidFill>
                </a:rPr>
                <a:t>Biología– </a:t>
              </a:r>
              <a:r>
                <a:rPr lang="es-AR" sz="2200" i="1" dirty="0">
                  <a:solidFill>
                    <a:srgbClr val="960000"/>
                  </a:solidFill>
                </a:rPr>
                <a:t>3 docentes</a:t>
              </a:r>
              <a:r>
                <a:rPr lang="es-AR" sz="2200" i="1" dirty="0" smtClean="0">
                  <a:solidFill>
                    <a:srgbClr val="960000"/>
                  </a:solidFill>
                </a:rPr>
                <a:t>.</a:t>
              </a:r>
              <a:endParaRPr lang="es-AR" sz="2200" i="1" dirty="0" smtClean="0">
                <a:solidFill>
                  <a:srgbClr val="960000"/>
                </a:solidFill>
              </a:endParaRPr>
            </a:p>
            <a:p>
              <a:pPr marL="185738" indent="-157163">
                <a:buFont typeface="Arial" panose="020B0604020202020204" pitchFamily="34" charset="0"/>
                <a:buChar char="•"/>
              </a:pPr>
              <a:r>
                <a:rPr lang="es-AR" sz="2200" i="1" dirty="0">
                  <a:solidFill>
                    <a:srgbClr val="960000"/>
                  </a:solidFill>
                </a:rPr>
                <a:t>Dpto. de </a:t>
              </a:r>
              <a:r>
                <a:rPr lang="es-AR" sz="2200" i="1" dirty="0" smtClean="0">
                  <a:solidFill>
                    <a:srgbClr val="960000"/>
                  </a:solidFill>
                </a:rPr>
                <a:t>Humanidades </a:t>
              </a:r>
              <a:r>
                <a:rPr lang="es-AR" sz="2200" i="1" dirty="0">
                  <a:solidFill>
                    <a:srgbClr val="960000"/>
                  </a:solidFill>
                </a:rPr>
                <a:t>– 3 docentes</a:t>
              </a:r>
              <a:r>
                <a:rPr lang="es-AR" sz="2200" i="1" dirty="0" smtClean="0">
                  <a:solidFill>
                    <a:srgbClr val="960000"/>
                  </a:solidFill>
                </a:rPr>
                <a:t>.</a:t>
              </a:r>
            </a:p>
            <a:p>
              <a:pPr marL="185738" indent="-157163">
                <a:buFont typeface="Arial" panose="020B0604020202020204" pitchFamily="34" charset="0"/>
                <a:buChar char="•"/>
              </a:pPr>
              <a:r>
                <a:rPr lang="es-AR" sz="2200" i="1" dirty="0">
                  <a:solidFill>
                    <a:srgbClr val="960000"/>
                  </a:solidFill>
                </a:rPr>
                <a:t>Dpto. de </a:t>
              </a:r>
              <a:r>
                <a:rPr lang="es-AR" sz="2200" i="1" dirty="0" smtClean="0">
                  <a:solidFill>
                    <a:srgbClr val="960000"/>
                  </a:solidFill>
                </a:rPr>
                <a:t>Química– 1 docente.</a:t>
              </a:r>
            </a:p>
            <a:p>
              <a:pPr marL="185738" indent="-157163">
                <a:buFont typeface="Arial" panose="020B0604020202020204" pitchFamily="34" charset="0"/>
                <a:buChar char="•"/>
              </a:pPr>
              <a:r>
                <a:rPr lang="es-AR" sz="2200" i="1" dirty="0">
                  <a:solidFill>
                    <a:srgbClr val="960000"/>
                  </a:solidFill>
                </a:rPr>
                <a:t>Dpto. de </a:t>
              </a:r>
              <a:r>
                <a:rPr lang="es-AR" sz="2200" i="1" dirty="0" smtClean="0">
                  <a:solidFill>
                    <a:srgbClr val="960000"/>
                  </a:solidFill>
                </a:rPr>
                <a:t>Agrimensura </a:t>
              </a:r>
              <a:r>
                <a:rPr lang="es-AR" sz="2200" i="1" dirty="0">
                  <a:solidFill>
                    <a:srgbClr val="960000"/>
                  </a:solidFill>
                </a:rPr>
                <a:t>– </a:t>
              </a:r>
              <a:r>
                <a:rPr lang="es-AR" sz="2200" i="1" dirty="0" smtClean="0">
                  <a:solidFill>
                    <a:srgbClr val="960000"/>
                  </a:solidFill>
                </a:rPr>
                <a:t>1 docente.</a:t>
              </a:r>
              <a:endParaRPr lang="es-AR" sz="2200" i="1" dirty="0">
                <a:solidFill>
                  <a:srgbClr val="960000"/>
                </a:solidFill>
              </a:endParaRPr>
            </a:p>
            <a:p>
              <a:pPr marL="185738" indent="-157163">
                <a:buFont typeface="Arial" panose="020B0604020202020204" pitchFamily="34" charset="0"/>
                <a:buChar char="•"/>
              </a:pPr>
              <a:endParaRPr lang="es-AR" sz="2400" i="1" dirty="0">
                <a:solidFill>
                  <a:srgbClr val="96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98756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6" grpId="0" animBg="1"/>
      <p:bldP spid="1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863380" y="647206"/>
            <a:ext cx="8474788" cy="7994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4000" b="1" u="sng" dirty="0">
                <a:solidFill>
                  <a:srgbClr val="B80000"/>
                </a:solidFill>
              </a:rPr>
              <a:t>Gestión de Recursos Humanos</a:t>
            </a:r>
          </a:p>
        </p:txBody>
      </p:sp>
      <p:sp>
        <p:nvSpPr>
          <p:cNvPr id="150" name="CuadroTexto 149"/>
          <p:cNvSpPr txBox="1"/>
          <p:nvPr/>
        </p:nvSpPr>
        <p:spPr>
          <a:xfrm>
            <a:off x="846162" y="1477781"/>
            <a:ext cx="10180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Distribución del sub-claustro de Profesores por Dpto. y dedicación:</a:t>
            </a:r>
            <a:endParaRPr lang="es-AR" sz="24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8" name="Grupo 7"/>
          <p:cNvGrpSpPr/>
          <p:nvPr/>
        </p:nvGrpSpPr>
        <p:grpSpPr>
          <a:xfrm>
            <a:off x="720453" y="2088178"/>
            <a:ext cx="5217342" cy="4379981"/>
            <a:chOff x="720453" y="2088178"/>
            <a:chExt cx="5217342" cy="4379981"/>
          </a:xfrm>
        </p:grpSpPr>
        <p:pic>
          <p:nvPicPr>
            <p:cNvPr id="5" name="Imagen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0453" y="2088178"/>
              <a:ext cx="5217342" cy="3856762"/>
            </a:xfrm>
            <a:prstGeom prst="rect">
              <a:avLst/>
            </a:prstGeom>
            <a:ln w="19050">
              <a:solidFill>
                <a:srgbClr val="960000"/>
              </a:solidFill>
            </a:ln>
          </p:spPr>
        </p:pic>
        <p:sp>
          <p:nvSpPr>
            <p:cNvPr id="17" name="CuadroTexto 16"/>
            <p:cNvSpPr txBox="1"/>
            <p:nvPr/>
          </p:nvSpPr>
          <p:spPr>
            <a:xfrm>
              <a:off x="1356592" y="5944939"/>
              <a:ext cx="390569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7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Distribución de Prof. Titulares por Dpto. discriminados por dedicación.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9" name="Grupo 8"/>
          <p:cNvGrpSpPr/>
          <p:nvPr/>
        </p:nvGrpSpPr>
        <p:grpSpPr>
          <a:xfrm>
            <a:off x="6235559" y="2086424"/>
            <a:ext cx="5219714" cy="4381735"/>
            <a:chOff x="6235559" y="2086424"/>
            <a:chExt cx="5219714" cy="4381735"/>
          </a:xfrm>
        </p:grpSpPr>
        <p:pic>
          <p:nvPicPr>
            <p:cNvPr id="6" name="Imagen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35559" y="2086424"/>
              <a:ext cx="5219714" cy="3858515"/>
            </a:xfrm>
            <a:prstGeom prst="rect">
              <a:avLst/>
            </a:prstGeom>
            <a:ln w="19050">
              <a:solidFill>
                <a:srgbClr val="960000"/>
              </a:solidFill>
            </a:ln>
          </p:spPr>
        </p:pic>
        <p:sp>
          <p:nvSpPr>
            <p:cNvPr id="18" name="CuadroTexto 17"/>
            <p:cNvSpPr txBox="1"/>
            <p:nvPr/>
          </p:nvSpPr>
          <p:spPr>
            <a:xfrm>
              <a:off x="6807132" y="5944939"/>
              <a:ext cx="39056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8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Distribución de Prof. Adjuntos por Dpto. discriminados por dedicación.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2083279" y="2698375"/>
            <a:ext cx="2174956" cy="1004049"/>
            <a:chOff x="6021238" y="4149725"/>
            <a:chExt cx="2656936" cy="1362554"/>
          </a:xfrm>
        </p:grpSpPr>
        <p:sp>
          <p:nvSpPr>
            <p:cNvPr id="20" name="Rectángulo redondeado 19"/>
            <p:cNvSpPr/>
            <p:nvPr/>
          </p:nvSpPr>
          <p:spPr>
            <a:xfrm>
              <a:off x="6021238" y="4149725"/>
              <a:ext cx="2656936" cy="136255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143751" y="4265982"/>
              <a:ext cx="2474037" cy="980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i="1" u="sng" dirty="0" smtClean="0">
                  <a:solidFill>
                    <a:srgbClr val="960000"/>
                  </a:solidFill>
                </a:rPr>
                <a:t>TOTAL: </a:t>
              </a:r>
            </a:p>
            <a:p>
              <a:pPr algn="ctr"/>
              <a:r>
                <a:rPr lang="es-AR" sz="2400" b="1" i="1" dirty="0" smtClean="0">
                  <a:solidFill>
                    <a:srgbClr val="960000"/>
                  </a:solidFill>
                </a:rPr>
                <a:t>90 Titulares</a:t>
              </a:r>
              <a:endParaRPr lang="es-AR" sz="2400" b="1" i="1" dirty="0">
                <a:solidFill>
                  <a:srgbClr val="960000"/>
                </a:solidFill>
              </a:endParaRPr>
            </a:p>
          </p:txBody>
        </p:sp>
      </p:grpSp>
      <p:grpSp>
        <p:nvGrpSpPr>
          <p:cNvPr id="23" name="Grupo 22"/>
          <p:cNvGrpSpPr/>
          <p:nvPr/>
        </p:nvGrpSpPr>
        <p:grpSpPr>
          <a:xfrm>
            <a:off x="7757938" y="2784043"/>
            <a:ext cx="2174956" cy="1004049"/>
            <a:chOff x="6021238" y="4149725"/>
            <a:chExt cx="2656936" cy="1362554"/>
          </a:xfrm>
        </p:grpSpPr>
        <p:sp>
          <p:nvSpPr>
            <p:cNvPr id="24" name="Rectángulo redondeado 23"/>
            <p:cNvSpPr/>
            <p:nvPr/>
          </p:nvSpPr>
          <p:spPr>
            <a:xfrm>
              <a:off x="6021238" y="4149725"/>
              <a:ext cx="2656936" cy="136255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6021238" y="4265982"/>
              <a:ext cx="2596551" cy="1127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i="1" u="sng" dirty="0" smtClean="0">
                  <a:solidFill>
                    <a:srgbClr val="960000"/>
                  </a:solidFill>
                </a:rPr>
                <a:t>TOTAL: </a:t>
              </a:r>
            </a:p>
            <a:p>
              <a:pPr algn="ctr"/>
              <a:r>
                <a:rPr lang="es-AR" sz="2400" b="1" i="1" dirty="0" smtClean="0">
                  <a:solidFill>
                    <a:srgbClr val="960000"/>
                  </a:solidFill>
                </a:rPr>
                <a:t>126 Adjuntos</a:t>
              </a:r>
              <a:endParaRPr lang="es-AR" sz="2400" b="1" i="1" dirty="0">
                <a:solidFill>
                  <a:srgbClr val="96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6055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863380" y="647206"/>
            <a:ext cx="8474788" cy="7994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4000" b="1" u="sng" dirty="0">
                <a:solidFill>
                  <a:srgbClr val="B80000"/>
                </a:solidFill>
              </a:rPr>
              <a:t>Gestión de Recursos Humanos</a:t>
            </a:r>
          </a:p>
        </p:txBody>
      </p:sp>
      <p:sp>
        <p:nvSpPr>
          <p:cNvPr id="150" name="CuadroTexto 149"/>
          <p:cNvSpPr txBox="1"/>
          <p:nvPr/>
        </p:nvSpPr>
        <p:spPr>
          <a:xfrm>
            <a:off x="863380" y="1446614"/>
            <a:ext cx="91943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Distribución del sub-claustro de Auxiliares en Doc. por Dpto. y dedicación:</a:t>
            </a:r>
            <a:endParaRPr lang="es-AR" sz="24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19" name="Grupo 18"/>
          <p:cNvGrpSpPr/>
          <p:nvPr/>
        </p:nvGrpSpPr>
        <p:grpSpPr>
          <a:xfrm>
            <a:off x="7319406" y="3413500"/>
            <a:ext cx="2328734" cy="1004049"/>
            <a:chOff x="5927310" y="4149725"/>
            <a:chExt cx="2844792" cy="1362554"/>
          </a:xfrm>
        </p:grpSpPr>
        <p:sp>
          <p:nvSpPr>
            <p:cNvPr id="20" name="Rectángulo redondeado 19"/>
            <p:cNvSpPr/>
            <p:nvPr/>
          </p:nvSpPr>
          <p:spPr>
            <a:xfrm>
              <a:off x="6021238" y="4149725"/>
              <a:ext cx="2656936" cy="136255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5927310" y="4267145"/>
              <a:ext cx="2844792" cy="1127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i="1" u="sng" dirty="0" smtClean="0">
                  <a:solidFill>
                    <a:srgbClr val="960000"/>
                  </a:solidFill>
                </a:rPr>
                <a:t>TOTAL: </a:t>
              </a:r>
            </a:p>
            <a:p>
              <a:pPr algn="ctr"/>
              <a:r>
                <a:rPr lang="es-AR" sz="2400" b="1" i="1" dirty="0" smtClean="0">
                  <a:solidFill>
                    <a:srgbClr val="960000"/>
                  </a:solidFill>
                </a:rPr>
                <a:t>345 Auxiliares</a:t>
              </a:r>
              <a:endParaRPr lang="es-AR" sz="2400" b="1" i="1" dirty="0">
                <a:solidFill>
                  <a:srgbClr val="960000"/>
                </a:solidFill>
              </a:endParaRPr>
            </a:p>
          </p:txBody>
        </p:sp>
      </p:grpSp>
      <p:sp>
        <p:nvSpPr>
          <p:cNvPr id="15" name="Flecha abajo 14"/>
          <p:cNvSpPr/>
          <p:nvPr/>
        </p:nvSpPr>
        <p:spPr>
          <a:xfrm rot="16200000">
            <a:off x="6314455" y="3387673"/>
            <a:ext cx="865597" cy="10556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7" name="Grupo 6"/>
          <p:cNvGrpSpPr/>
          <p:nvPr/>
        </p:nvGrpSpPr>
        <p:grpSpPr>
          <a:xfrm>
            <a:off x="1122511" y="2359301"/>
            <a:ext cx="4947589" cy="4180575"/>
            <a:chOff x="1122511" y="2359301"/>
            <a:chExt cx="4947589" cy="4180575"/>
          </a:xfrm>
        </p:grpSpPr>
        <p:sp>
          <p:nvSpPr>
            <p:cNvPr id="17" name="CuadroTexto 16"/>
            <p:cNvSpPr txBox="1"/>
            <p:nvPr/>
          </p:nvSpPr>
          <p:spPr>
            <a:xfrm>
              <a:off x="1446238" y="6016656"/>
              <a:ext cx="43001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9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Distribución de Auxiliares en Docencia por Dpto. discriminados por dedicación.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  <p:pic>
          <p:nvPicPr>
            <p:cNvPr id="6" name="Imagen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2511" y="2359301"/>
              <a:ext cx="4947589" cy="3657355"/>
            </a:xfrm>
            <a:prstGeom prst="rect">
              <a:avLst/>
            </a:prstGeom>
            <a:ln w="19050">
              <a:solidFill>
                <a:srgbClr val="96000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7505770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redondeado 27"/>
          <p:cNvSpPr/>
          <p:nvPr/>
        </p:nvSpPr>
        <p:spPr>
          <a:xfrm>
            <a:off x="8812925" y="4744045"/>
            <a:ext cx="2915302" cy="52554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863380" y="647206"/>
            <a:ext cx="8474788" cy="7994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4000" b="1" u="sng" dirty="0">
                <a:solidFill>
                  <a:srgbClr val="B80000"/>
                </a:solidFill>
              </a:rPr>
              <a:t>Gestión de Recursos Humanos</a:t>
            </a:r>
          </a:p>
        </p:txBody>
      </p:sp>
      <p:sp>
        <p:nvSpPr>
          <p:cNvPr id="150" name="CuadroTexto 149"/>
          <p:cNvSpPr txBox="1"/>
          <p:nvPr/>
        </p:nvSpPr>
        <p:spPr>
          <a:xfrm>
            <a:off x="863380" y="1499769"/>
            <a:ext cx="9194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Distribución del Mayores Dedicaciones por Departamento:</a:t>
            </a:r>
            <a:endParaRPr lang="es-AR" sz="24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19" name="Grupo 18"/>
          <p:cNvGrpSpPr/>
          <p:nvPr/>
        </p:nvGrpSpPr>
        <p:grpSpPr>
          <a:xfrm>
            <a:off x="7436347" y="2758398"/>
            <a:ext cx="2328734" cy="1346759"/>
            <a:chOff x="5927310" y="4144305"/>
            <a:chExt cx="2844792" cy="1827632"/>
          </a:xfrm>
        </p:grpSpPr>
        <p:sp>
          <p:nvSpPr>
            <p:cNvPr id="20" name="Rectángulo redondeado 19"/>
            <p:cNvSpPr/>
            <p:nvPr/>
          </p:nvSpPr>
          <p:spPr>
            <a:xfrm>
              <a:off x="5974273" y="4144305"/>
              <a:ext cx="2750864" cy="1827632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5927310" y="4243663"/>
              <a:ext cx="2844792" cy="16289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i="1" u="sng" dirty="0" smtClean="0">
                  <a:solidFill>
                    <a:srgbClr val="960000"/>
                  </a:solidFill>
                </a:rPr>
                <a:t>TOTAL: </a:t>
              </a:r>
            </a:p>
            <a:p>
              <a:pPr algn="ctr"/>
              <a:r>
                <a:rPr lang="es-AR" sz="2400" b="1" i="1" dirty="0" smtClean="0">
                  <a:solidFill>
                    <a:srgbClr val="960000"/>
                  </a:solidFill>
                </a:rPr>
                <a:t>127 Mayores Dedicaciones</a:t>
              </a:r>
              <a:endParaRPr lang="es-AR" sz="2400" b="1" i="1" dirty="0">
                <a:solidFill>
                  <a:srgbClr val="960000"/>
                </a:solidFill>
              </a:endParaRPr>
            </a:p>
          </p:txBody>
        </p:sp>
      </p:grpSp>
      <p:sp>
        <p:nvSpPr>
          <p:cNvPr id="15" name="Flecha abajo 14"/>
          <p:cNvSpPr/>
          <p:nvPr/>
        </p:nvSpPr>
        <p:spPr>
          <a:xfrm rot="16200000">
            <a:off x="6334481" y="2881656"/>
            <a:ext cx="865597" cy="10556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Abrir llave 12"/>
          <p:cNvSpPr/>
          <p:nvPr/>
        </p:nvSpPr>
        <p:spPr>
          <a:xfrm rot="5400000">
            <a:off x="8695128" y="1757855"/>
            <a:ext cx="655692" cy="5567088"/>
          </a:xfrm>
          <a:prstGeom prst="leftBrace">
            <a:avLst/>
          </a:prstGeom>
          <a:noFill/>
          <a:ln w="28575">
            <a:solidFill>
              <a:schemeClr val="tx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>
              <a:ln w="57150">
                <a:solidFill>
                  <a:schemeClr val="tx1"/>
                </a:solidFill>
              </a:ln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6271979" y="4746580"/>
            <a:ext cx="2328734" cy="525546"/>
            <a:chOff x="5927310" y="4144305"/>
            <a:chExt cx="2844792" cy="1827632"/>
          </a:xfrm>
        </p:grpSpPr>
        <p:sp>
          <p:nvSpPr>
            <p:cNvPr id="16" name="Rectángulo redondeado 15"/>
            <p:cNvSpPr/>
            <p:nvPr/>
          </p:nvSpPr>
          <p:spPr>
            <a:xfrm>
              <a:off x="5974273" y="4144305"/>
              <a:ext cx="2750864" cy="1827632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8" name="CuadroTexto 17"/>
            <p:cNvSpPr txBox="1"/>
            <p:nvPr/>
          </p:nvSpPr>
          <p:spPr>
            <a:xfrm>
              <a:off x="5927310" y="4243663"/>
              <a:ext cx="2844792" cy="8694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i="1" dirty="0" smtClean="0">
                  <a:solidFill>
                    <a:srgbClr val="960000"/>
                  </a:solidFill>
                </a:rPr>
                <a:t>97 Exclusivas</a:t>
              </a:r>
              <a:endParaRPr lang="es-AR" sz="2400" b="1" i="1" dirty="0">
                <a:solidFill>
                  <a:srgbClr val="960000"/>
                </a:solidFill>
              </a:endParaRPr>
            </a:p>
          </p:txBody>
        </p:sp>
      </p:grpSp>
      <p:sp>
        <p:nvSpPr>
          <p:cNvPr id="24" name="CuadroTexto 23"/>
          <p:cNvSpPr txBox="1"/>
          <p:nvPr/>
        </p:nvSpPr>
        <p:spPr>
          <a:xfrm>
            <a:off x="8774479" y="4760478"/>
            <a:ext cx="2953747" cy="52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b="1" i="1" dirty="0" smtClean="0">
                <a:solidFill>
                  <a:srgbClr val="960000"/>
                </a:solidFill>
              </a:rPr>
              <a:t>30 </a:t>
            </a:r>
            <a:r>
              <a:rPr lang="es-AR" sz="2400" b="1" i="1" dirty="0" err="1" smtClean="0">
                <a:solidFill>
                  <a:srgbClr val="960000"/>
                </a:solidFill>
              </a:rPr>
              <a:t>Semiexclusivas</a:t>
            </a:r>
            <a:endParaRPr lang="es-AR" sz="2400" b="1" i="1" dirty="0">
              <a:solidFill>
                <a:srgbClr val="960000"/>
              </a:solidFill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954286" y="2196353"/>
            <a:ext cx="5206853" cy="4259570"/>
            <a:chOff x="954286" y="2196353"/>
            <a:chExt cx="5206853" cy="4259570"/>
          </a:xfrm>
        </p:grpSpPr>
        <p:sp>
          <p:nvSpPr>
            <p:cNvPr id="17" name="CuadroTexto 16"/>
            <p:cNvSpPr txBox="1"/>
            <p:nvPr/>
          </p:nvSpPr>
          <p:spPr>
            <a:xfrm>
              <a:off x="1401336" y="5932703"/>
              <a:ext cx="43001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10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Distribución de Mayores Dedicaciones  por Departamento.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  <p:pic>
          <p:nvPicPr>
            <p:cNvPr id="6" name="Imagen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4286" y="2196353"/>
              <a:ext cx="5206853" cy="3736350"/>
            </a:xfrm>
            <a:prstGeom prst="rect">
              <a:avLst/>
            </a:prstGeom>
            <a:ln w="19050">
              <a:solidFill>
                <a:srgbClr val="96000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9247610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5" grpId="0" animBg="1"/>
      <p:bldP spid="13" grpId="0" animBg="1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863380" y="647206"/>
            <a:ext cx="8474788" cy="7994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4000" b="1" u="sng" dirty="0">
                <a:solidFill>
                  <a:srgbClr val="B80000"/>
                </a:solidFill>
              </a:rPr>
              <a:t>Gestión </a:t>
            </a:r>
            <a:r>
              <a:rPr lang="es-AR" sz="4000" b="1" u="sng" dirty="0" smtClean="0">
                <a:solidFill>
                  <a:srgbClr val="B80000"/>
                </a:solidFill>
              </a:rPr>
              <a:t>Presupuestaria</a:t>
            </a:r>
            <a:endParaRPr lang="es-AR" sz="4000" b="1" u="sng" dirty="0">
              <a:solidFill>
                <a:srgbClr val="B80000"/>
              </a:solidFill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863380" y="1447595"/>
            <a:ext cx="1028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Evolución </a:t>
            </a:r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del </a:t>
            </a:r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Partida </a:t>
            </a:r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Anual </a:t>
            </a:r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del Tesoro Nacional </a:t>
            </a:r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2022-2023:</a:t>
            </a:r>
            <a:endParaRPr lang="es-AR" sz="24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23" name="Grupo 22"/>
          <p:cNvGrpSpPr/>
          <p:nvPr/>
        </p:nvGrpSpPr>
        <p:grpSpPr>
          <a:xfrm>
            <a:off x="6372223" y="2178160"/>
            <a:ext cx="5029201" cy="4251173"/>
            <a:chOff x="6372223" y="2178160"/>
            <a:chExt cx="5029201" cy="4251173"/>
          </a:xfrm>
        </p:grpSpPr>
        <p:sp>
          <p:nvSpPr>
            <p:cNvPr id="11" name="CuadroTexto 10"/>
            <p:cNvSpPr txBox="1"/>
            <p:nvPr/>
          </p:nvSpPr>
          <p:spPr>
            <a:xfrm>
              <a:off x="6526834" y="5906113"/>
              <a:ext cx="43001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</a:t>
              </a:r>
              <a:r>
                <a:rPr lang="es-AR" sz="1400" b="1" i="1" u="sng" dirty="0" smtClean="0">
                  <a:solidFill>
                    <a:srgbClr val="0070C0"/>
                  </a:solidFill>
                </a:rPr>
                <a:t>12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</a:t>
              </a:r>
              <a:r>
                <a:rPr lang="es-AR" sz="1400" b="1" i="1" dirty="0">
                  <a:solidFill>
                    <a:srgbClr val="0070C0"/>
                  </a:solidFill>
                </a:rPr>
                <a:t>Distribución 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presupuestaria </a:t>
              </a:r>
              <a:r>
                <a:rPr lang="es-AR" sz="1400" b="1" i="1" dirty="0">
                  <a:solidFill>
                    <a:srgbClr val="0070C0"/>
                  </a:solidFill>
                </a:rPr>
                <a:t>de FaCENA 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2023.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  <p:graphicFrame>
          <p:nvGraphicFramePr>
            <p:cNvPr id="20" name="6 Gráfico">
              <a:extLst>
                <a:ext uri="{FF2B5EF4-FFF2-40B4-BE49-F238E27FC236}">
                  <a16:creationId xmlns="" xmlns:xdr="http://schemas.openxmlformats.org/drawingml/2006/spreadsheetDrawing" xmlns:a16="http://schemas.microsoft.com/office/drawing/2014/main" xmlns:lc="http://schemas.openxmlformats.org/drawingml/2006/lockedCanvas" id="{00000000-0008-0000-0200-00000700000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179326786"/>
                </p:ext>
              </p:extLst>
            </p:nvPr>
          </p:nvGraphicFramePr>
          <p:xfrm>
            <a:off x="6372223" y="2178160"/>
            <a:ext cx="5029201" cy="36518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grpSp>
        <p:nvGrpSpPr>
          <p:cNvPr id="22" name="Grupo 21"/>
          <p:cNvGrpSpPr/>
          <p:nvPr/>
        </p:nvGrpSpPr>
        <p:grpSpPr>
          <a:xfrm>
            <a:off x="1052326" y="2178160"/>
            <a:ext cx="4944285" cy="4251173"/>
            <a:chOff x="1052326" y="2178160"/>
            <a:chExt cx="4944285" cy="4251173"/>
          </a:xfrm>
        </p:grpSpPr>
        <p:sp>
          <p:nvSpPr>
            <p:cNvPr id="10" name="CuadroTexto 9"/>
            <p:cNvSpPr txBox="1"/>
            <p:nvPr/>
          </p:nvSpPr>
          <p:spPr>
            <a:xfrm>
              <a:off x="1185453" y="5906113"/>
              <a:ext cx="43001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</a:t>
              </a:r>
              <a:r>
                <a:rPr lang="es-AR" sz="1400" b="1" i="1" u="sng" dirty="0" smtClean="0">
                  <a:solidFill>
                    <a:srgbClr val="0070C0"/>
                  </a:solidFill>
                </a:rPr>
                <a:t>11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Distribución 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presupuestaria de FaCENA 2022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  <p:pic>
          <p:nvPicPr>
            <p:cNvPr id="21" name="Imagen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2326" y="2178160"/>
              <a:ext cx="4944285" cy="3651821"/>
            </a:xfrm>
            <a:prstGeom prst="rect">
              <a:avLst/>
            </a:prstGeom>
            <a:ln w="19050">
              <a:solidFill>
                <a:srgbClr val="96000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2826111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863380" y="647206"/>
            <a:ext cx="8474788" cy="7994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4000" b="1" u="sng" dirty="0">
                <a:solidFill>
                  <a:srgbClr val="B80000"/>
                </a:solidFill>
              </a:rPr>
              <a:t>Gestión </a:t>
            </a:r>
            <a:r>
              <a:rPr lang="es-AR" sz="4000" b="1" u="sng" dirty="0" smtClean="0">
                <a:solidFill>
                  <a:srgbClr val="B80000"/>
                </a:solidFill>
              </a:rPr>
              <a:t>Presupuestaria</a:t>
            </a:r>
            <a:endParaRPr lang="es-AR" sz="4000" b="1" u="sng" dirty="0">
              <a:solidFill>
                <a:srgbClr val="B80000"/>
              </a:solidFill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863380" y="1447595"/>
            <a:ext cx="10288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Ejecución de “Otros Gastos” </a:t>
            </a:r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2021-2022, discriminado entre “Pago de Servicios” y “Compras”:</a:t>
            </a:r>
            <a:endParaRPr lang="es-AR" sz="24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17" name="Grupo 16"/>
          <p:cNvGrpSpPr/>
          <p:nvPr/>
        </p:nvGrpSpPr>
        <p:grpSpPr>
          <a:xfrm>
            <a:off x="6269471" y="2534956"/>
            <a:ext cx="5461743" cy="4072221"/>
            <a:chOff x="286683" y="2443516"/>
            <a:chExt cx="5461743" cy="4072221"/>
          </a:xfrm>
        </p:grpSpPr>
        <p:pic>
          <p:nvPicPr>
            <p:cNvPr id="2" name="Imagen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683" y="2443516"/>
              <a:ext cx="5461743" cy="3515051"/>
            </a:xfrm>
            <a:prstGeom prst="rect">
              <a:avLst/>
            </a:prstGeom>
            <a:ln w="28575">
              <a:solidFill>
                <a:srgbClr val="960000"/>
              </a:solidFill>
            </a:ln>
          </p:spPr>
        </p:pic>
        <p:sp>
          <p:nvSpPr>
            <p:cNvPr id="13" name="CuadroTexto 12"/>
            <p:cNvSpPr txBox="1"/>
            <p:nvPr/>
          </p:nvSpPr>
          <p:spPr>
            <a:xfrm>
              <a:off x="913205" y="5992517"/>
              <a:ext cx="43001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</a:t>
              </a:r>
              <a:r>
                <a:rPr lang="es-AR" sz="1400" b="1" i="1" u="sng" dirty="0" smtClean="0">
                  <a:solidFill>
                    <a:srgbClr val="0070C0"/>
                  </a:solidFill>
                </a:rPr>
                <a:t>14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Distribución de gastos del 2022 (ejecución finalizada).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29" name="Grupo 28"/>
          <p:cNvGrpSpPr/>
          <p:nvPr/>
        </p:nvGrpSpPr>
        <p:grpSpPr>
          <a:xfrm>
            <a:off x="685111" y="2534956"/>
            <a:ext cx="5264799" cy="4072221"/>
            <a:chOff x="685111" y="2534956"/>
            <a:chExt cx="5264799" cy="4072221"/>
          </a:xfrm>
        </p:grpSpPr>
        <p:sp>
          <p:nvSpPr>
            <p:cNvPr id="28" name="CuadroTexto 27"/>
            <p:cNvSpPr txBox="1"/>
            <p:nvPr/>
          </p:nvSpPr>
          <p:spPr>
            <a:xfrm>
              <a:off x="1287673" y="6083957"/>
              <a:ext cx="43001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</a:t>
              </a:r>
              <a:r>
                <a:rPr lang="es-AR" sz="1400" b="1" i="1" u="sng" dirty="0" smtClean="0">
                  <a:solidFill>
                    <a:srgbClr val="0070C0"/>
                  </a:solidFill>
                </a:rPr>
                <a:t>13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Distribución de gastos del 2021 (ejecución finalizada).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  <p:pic>
          <p:nvPicPr>
            <p:cNvPr id="27" name="Imagen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111" y="2534956"/>
              <a:ext cx="5264799" cy="3515051"/>
            </a:xfrm>
            <a:prstGeom prst="rect">
              <a:avLst/>
            </a:prstGeom>
            <a:ln w="28575">
              <a:solidFill>
                <a:srgbClr val="96000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1919964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863380" y="647206"/>
            <a:ext cx="8474788" cy="7994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4000" b="1" u="sng" dirty="0">
                <a:solidFill>
                  <a:srgbClr val="B80000"/>
                </a:solidFill>
              </a:rPr>
              <a:t>Gestión </a:t>
            </a:r>
            <a:r>
              <a:rPr lang="es-AR" sz="4000" b="1" u="sng" dirty="0" smtClean="0">
                <a:solidFill>
                  <a:srgbClr val="B80000"/>
                </a:solidFill>
              </a:rPr>
              <a:t>Presupuestaria</a:t>
            </a:r>
            <a:endParaRPr lang="es-AR" sz="4000" b="1" u="sng" dirty="0">
              <a:solidFill>
                <a:srgbClr val="B80000"/>
              </a:solidFill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863380" y="1447595"/>
            <a:ext cx="10288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Ejecución de “Otros Gastos” 2023, parcial </a:t>
            </a:r>
            <a:r>
              <a:rPr lang="es-AR" sz="2400" b="1" i="1" dirty="0">
                <a:solidFill>
                  <a:schemeClr val="bg2">
                    <a:lumMod val="75000"/>
                  </a:schemeClr>
                </a:solidFill>
              </a:rPr>
              <a:t>de </a:t>
            </a:r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“Compras” </a:t>
            </a:r>
            <a:r>
              <a:rPr lang="es-AR" sz="2400" b="1" i="1" dirty="0">
                <a:solidFill>
                  <a:schemeClr val="bg2">
                    <a:lumMod val="75000"/>
                  </a:schemeClr>
                </a:solidFill>
              </a:rPr>
              <a:t>y estimada de </a:t>
            </a:r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“Pago de Servicios”</a:t>
            </a:r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:</a:t>
            </a:r>
            <a:endParaRPr lang="es-AR" sz="24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19" name="Grupo 18"/>
          <p:cNvGrpSpPr/>
          <p:nvPr/>
        </p:nvGrpSpPr>
        <p:grpSpPr>
          <a:xfrm>
            <a:off x="1152046" y="2473996"/>
            <a:ext cx="6077583" cy="4106171"/>
            <a:chOff x="5817460" y="2443516"/>
            <a:chExt cx="6077583" cy="4106171"/>
          </a:xfrm>
        </p:grpSpPr>
        <p:sp>
          <p:nvSpPr>
            <p:cNvPr id="14" name="CuadroTexto 13"/>
            <p:cNvSpPr txBox="1"/>
            <p:nvPr/>
          </p:nvSpPr>
          <p:spPr>
            <a:xfrm>
              <a:off x="6560411" y="6026467"/>
              <a:ext cx="45916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</a:t>
              </a:r>
              <a:r>
                <a:rPr lang="es-AR" sz="1400" b="1" i="1" u="sng" dirty="0" smtClean="0">
                  <a:solidFill>
                    <a:srgbClr val="0070C0"/>
                  </a:solidFill>
                </a:rPr>
                <a:t>15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</a:t>
              </a:r>
              <a:r>
                <a:rPr lang="es-AR" sz="1400" b="1" i="1" dirty="0">
                  <a:solidFill>
                    <a:srgbClr val="0070C0"/>
                  </a:solidFill>
                </a:rPr>
                <a:t>Distribución de gastos del 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2023 (ejecución hasta julio y proyección agosto-diciembre).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  <p:pic>
          <p:nvPicPr>
            <p:cNvPr id="16" name="Imagen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17460" y="2443516"/>
              <a:ext cx="6077583" cy="3530936"/>
            </a:xfrm>
            <a:prstGeom prst="rect">
              <a:avLst/>
            </a:prstGeom>
            <a:ln w="28575">
              <a:solidFill>
                <a:srgbClr val="960000"/>
              </a:solidFill>
            </a:ln>
          </p:spPr>
        </p:pic>
      </p:grpSp>
      <p:grpSp>
        <p:nvGrpSpPr>
          <p:cNvPr id="20" name="Grupo 19"/>
          <p:cNvGrpSpPr/>
          <p:nvPr/>
        </p:nvGrpSpPr>
        <p:grpSpPr>
          <a:xfrm>
            <a:off x="7638046" y="4650944"/>
            <a:ext cx="4260009" cy="904213"/>
            <a:chOff x="5974274" y="4144305"/>
            <a:chExt cx="5204046" cy="1227071"/>
          </a:xfrm>
        </p:grpSpPr>
        <p:sp>
          <p:nvSpPr>
            <p:cNvPr id="21" name="Rectángulo redondeado 20"/>
            <p:cNvSpPr/>
            <p:nvPr/>
          </p:nvSpPr>
          <p:spPr>
            <a:xfrm>
              <a:off x="5974274" y="4144305"/>
              <a:ext cx="5129859" cy="1227071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6001496" y="4193983"/>
              <a:ext cx="5176824" cy="11277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2400" b="1" i="1" dirty="0" smtClean="0">
                  <a:solidFill>
                    <a:srgbClr val="960000"/>
                  </a:solidFill>
                </a:rPr>
                <a:t>$13.558.155,5 ejecutados</a:t>
              </a:r>
            </a:p>
            <a:p>
              <a:r>
                <a:rPr lang="es-AR" sz="2400" b="1" i="1" dirty="0" smtClean="0">
                  <a:solidFill>
                    <a:srgbClr val="960000"/>
                  </a:solidFill>
                </a:rPr>
                <a:t>$ 18.960.763,7 proyectados</a:t>
              </a:r>
              <a:endParaRPr lang="es-AR" sz="2400" b="1" i="1" dirty="0">
                <a:solidFill>
                  <a:srgbClr val="960000"/>
                </a:solidFill>
              </a:endParaRPr>
            </a:p>
          </p:txBody>
        </p:sp>
      </p:grpSp>
      <p:sp>
        <p:nvSpPr>
          <p:cNvPr id="23" name="Abrir llave 22"/>
          <p:cNvSpPr/>
          <p:nvPr/>
        </p:nvSpPr>
        <p:spPr>
          <a:xfrm rot="5400000">
            <a:off x="9398038" y="2114318"/>
            <a:ext cx="615299" cy="4384735"/>
          </a:xfrm>
          <a:prstGeom prst="leftBrace">
            <a:avLst/>
          </a:prstGeom>
          <a:noFill/>
          <a:ln w="28575">
            <a:solidFill>
              <a:schemeClr val="tx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>
              <a:ln w="57150">
                <a:solidFill>
                  <a:schemeClr val="tx1"/>
                </a:solidFill>
              </a:ln>
            </a:endParaRPr>
          </a:p>
        </p:txBody>
      </p:sp>
      <p:grpSp>
        <p:nvGrpSpPr>
          <p:cNvPr id="15" name="Grupo 14"/>
          <p:cNvGrpSpPr/>
          <p:nvPr/>
        </p:nvGrpSpPr>
        <p:grpSpPr>
          <a:xfrm>
            <a:off x="7649187" y="2892447"/>
            <a:ext cx="4199280" cy="904213"/>
            <a:chOff x="5974274" y="4144305"/>
            <a:chExt cx="5129859" cy="1227071"/>
          </a:xfrm>
        </p:grpSpPr>
        <p:sp>
          <p:nvSpPr>
            <p:cNvPr id="18" name="Rectángulo redondeado 17"/>
            <p:cNvSpPr/>
            <p:nvPr/>
          </p:nvSpPr>
          <p:spPr>
            <a:xfrm>
              <a:off x="5974274" y="4144305"/>
              <a:ext cx="5129859" cy="1227071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6132100" y="4193986"/>
              <a:ext cx="4958424" cy="11277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2400" b="1" i="1" dirty="0" smtClean="0">
                  <a:solidFill>
                    <a:srgbClr val="960000"/>
                  </a:solidFill>
                </a:rPr>
                <a:t>$ 32.518.919,2 para Pago de Servicios</a:t>
              </a:r>
              <a:endParaRPr lang="es-AR" sz="2400" b="1" i="1" dirty="0">
                <a:solidFill>
                  <a:srgbClr val="96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36308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863380" y="647206"/>
            <a:ext cx="8474788" cy="7994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4000" b="1" u="sng" dirty="0">
                <a:solidFill>
                  <a:srgbClr val="B80000"/>
                </a:solidFill>
              </a:rPr>
              <a:t>Gestión </a:t>
            </a:r>
            <a:r>
              <a:rPr lang="es-AR" sz="4000" b="1" u="sng" dirty="0" smtClean="0">
                <a:solidFill>
                  <a:srgbClr val="B80000"/>
                </a:solidFill>
              </a:rPr>
              <a:t>Presupuestaria</a:t>
            </a:r>
            <a:endParaRPr lang="es-AR" sz="4000" b="1" u="sng" dirty="0">
              <a:solidFill>
                <a:srgbClr val="B80000"/>
              </a:solidFill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863380" y="1497219"/>
            <a:ext cx="1028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Compras realizadas a solicitud de los Departamentos en el 2021</a:t>
            </a:r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:</a:t>
            </a:r>
            <a:endParaRPr lang="es-AR" sz="24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377997" y="2067379"/>
            <a:ext cx="5629740" cy="3873266"/>
            <a:chOff x="377997" y="2192180"/>
            <a:chExt cx="5629740" cy="3873266"/>
          </a:xfrm>
        </p:grpSpPr>
        <p:sp>
          <p:nvSpPr>
            <p:cNvPr id="15" name="CuadroTexto 14"/>
            <p:cNvSpPr txBox="1"/>
            <p:nvPr/>
          </p:nvSpPr>
          <p:spPr>
            <a:xfrm>
              <a:off x="1042798" y="5542226"/>
              <a:ext cx="43001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</a:t>
              </a:r>
              <a:r>
                <a:rPr lang="es-AR" sz="1400" b="1" i="1" u="sng" dirty="0" smtClean="0">
                  <a:solidFill>
                    <a:srgbClr val="0070C0"/>
                  </a:solidFill>
                </a:rPr>
                <a:t>16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Distribución de gastos del 2021 (ejecución finalizada).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  <p:pic>
          <p:nvPicPr>
            <p:cNvPr id="2" name="Imagen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997" y="2192180"/>
              <a:ext cx="5629740" cy="3283015"/>
            </a:xfrm>
            <a:prstGeom prst="rect">
              <a:avLst/>
            </a:prstGeom>
            <a:ln w="28575">
              <a:solidFill>
                <a:srgbClr val="960000"/>
              </a:solidFill>
            </a:ln>
          </p:spPr>
        </p:pic>
      </p:grpSp>
      <p:grpSp>
        <p:nvGrpSpPr>
          <p:cNvPr id="6" name="Grupo 5"/>
          <p:cNvGrpSpPr/>
          <p:nvPr/>
        </p:nvGrpSpPr>
        <p:grpSpPr>
          <a:xfrm>
            <a:off x="6239165" y="2067379"/>
            <a:ext cx="5556199" cy="4006638"/>
            <a:chOff x="6223925" y="2192180"/>
            <a:chExt cx="5556199" cy="4006638"/>
          </a:xfrm>
        </p:grpSpPr>
        <p:sp>
          <p:nvSpPr>
            <p:cNvPr id="16" name="CuadroTexto 15"/>
            <p:cNvSpPr txBox="1"/>
            <p:nvPr/>
          </p:nvSpPr>
          <p:spPr>
            <a:xfrm>
              <a:off x="6851957" y="5675598"/>
              <a:ext cx="43001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</a:t>
              </a:r>
              <a:r>
                <a:rPr lang="es-AR" sz="1400" b="1" i="1" u="sng" dirty="0" smtClean="0">
                  <a:solidFill>
                    <a:srgbClr val="0070C0"/>
                  </a:solidFill>
                </a:rPr>
                <a:t>17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Distribución de gastos del 2021 (ejecución finalizada).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  <p:pic>
          <p:nvPicPr>
            <p:cNvPr id="3" name="Imagen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23925" y="2192180"/>
              <a:ext cx="5556199" cy="3339631"/>
            </a:xfrm>
            <a:prstGeom prst="rect">
              <a:avLst/>
            </a:prstGeom>
            <a:ln w="28575">
              <a:solidFill>
                <a:srgbClr val="960000"/>
              </a:solidFill>
            </a:ln>
          </p:spPr>
        </p:pic>
      </p:grpSp>
      <p:grpSp>
        <p:nvGrpSpPr>
          <p:cNvPr id="17" name="Grupo 16"/>
          <p:cNvGrpSpPr/>
          <p:nvPr/>
        </p:nvGrpSpPr>
        <p:grpSpPr>
          <a:xfrm>
            <a:off x="4125715" y="5940645"/>
            <a:ext cx="4226900" cy="911908"/>
            <a:chOff x="5978576" y="4145550"/>
            <a:chExt cx="5163599" cy="1193235"/>
          </a:xfrm>
        </p:grpSpPr>
        <p:sp>
          <p:nvSpPr>
            <p:cNvPr id="18" name="Rectángulo redondeado 17"/>
            <p:cNvSpPr/>
            <p:nvPr/>
          </p:nvSpPr>
          <p:spPr>
            <a:xfrm>
              <a:off x="5978576" y="4145550"/>
              <a:ext cx="4996044" cy="778886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6146131" y="4251422"/>
              <a:ext cx="4996044" cy="10873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2400" b="1" i="1" u="sng" dirty="0" smtClean="0">
                  <a:solidFill>
                    <a:srgbClr val="960000"/>
                  </a:solidFill>
                </a:rPr>
                <a:t>TOTAL 2021</a:t>
              </a:r>
              <a:r>
                <a:rPr lang="es-AR" sz="2400" b="1" i="1" u="sng" dirty="0" smtClean="0">
                  <a:solidFill>
                    <a:srgbClr val="960000"/>
                  </a:solidFill>
                </a:rPr>
                <a:t>:</a:t>
              </a:r>
              <a:r>
                <a:rPr lang="es-AR" sz="2400" b="1" i="1" dirty="0" smtClean="0">
                  <a:solidFill>
                    <a:srgbClr val="960000"/>
                  </a:solidFill>
                </a:rPr>
                <a:t> </a:t>
              </a:r>
              <a:r>
                <a:rPr lang="es-AR" sz="2400" b="1" i="1" dirty="0">
                  <a:solidFill>
                    <a:srgbClr val="960000"/>
                  </a:solidFill>
                </a:rPr>
                <a:t>$</a:t>
              </a:r>
              <a:r>
                <a:rPr lang="es-AR" sz="2400" b="1" i="1" dirty="0" smtClean="0">
                  <a:solidFill>
                    <a:srgbClr val="960000"/>
                  </a:solidFill>
                </a:rPr>
                <a:t>3.662.152,85</a:t>
              </a:r>
              <a:endParaRPr lang="es-AR" sz="2400" b="1" i="1" dirty="0">
                <a:solidFill>
                  <a:srgbClr val="960000"/>
                </a:solidFill>
              </a:endParaRPr>
            </a:p>
            <a:p>
              <a:r>
                <a:rPr lang="es-AR" sz="2400" b="1" i="1" dirty="0" smtClean="0">
                  <a:solidFill>
                    <a:srgbClr val="960000"/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16817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863380" y="647206"/>
            <a:ext cx="8474788" cy="7994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4000" b="1" u="sng" dirty="0">
                <a:solidFill>
                  <a:srgbClr val="B80000"/>
                </a:solidFill>
              </a:rPr>
              <a:t>Gestión </a:t>
            </a:r>
            <a:r>
              <a:rPr lang="es-AR" sz="4000" b="1" u="sng" dirty="0" smtClean="0">
                <a:solidFill>
                  <a:srgbClr val="B80000"/>
                </a:solidFill>
              </a:rPr>
              <a:t>Presupuestaria</a:t>
            </a:r>
            <a:endParaRPr lang="es-AR" sz="4000" b="1" u="sng" dirty="0">
              <a:solidFill>
                <a:srgbClr val="B80000"/>
              </a:solidFill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863380" y="1447595"/>
            <a:ext cx="1028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Compras realizadas a solicitud de los Departamentos en el 2022</a:t>
            </a:r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:</a:t>
            </a:r>
            <a:endParaRPr lang="es-AR" sz="24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10" name="Grupo 9"/>
          <p:cNvGrpSpPr/>
          <p:nvPr/>
        </p:nvGrpSpPr>
        <p:grpSpPr>
          <a:xfrm>
            <a:off x="376323" y="1985532"/>
            <a:ext cx="5901753" cy="3973619"/>
            <a:chOff x="428624" y="2171702"/>
            <a:chExt cx="5901753" cy="3973619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 rotWithShape="1">
            <a:blip r:embed="rId2"/>
            <a:srcRect l="3813" t="9658" r="2229" b="2689"/>
            <a:stretch/>
          </p:blipFill>
          <p:spPr>
            <a:xfrm>
              <a:off x="428624" y="2171702"/>
              <a:ext cx="5901753" cy="3257550"/>
            </a:xfrm>
            <a:prstGeom prst="rect">
              <a:avLst/>
            </a:prstGeom>
            <a:ln w="28575">
              <a:solidFill>
                <a:srgbClr val="960000"/>
              </a:solidFill>
            </a:ln>
          </p:spPr>
        </p:pic>
        <p:sp>
          <p:nvSpPr>
            <p:cNvPr id="15" name="CuadroTexto 14"/>
            <p:cNvSpPr txBox="1"/>
            <p:nvPr/>
          </p:nvSpPr>
          <p:spPr>
            <a:xfrm>
              <a:off x="1229431" y="5622101"/>
              <a:ext cx="43001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</a:t>
              </a:r>
              <a:r>
                <a:rPr lang="es-AR" sz="1400" b="1" i="1" u="sng" dirty="0" smtClean="0">
                  <a:solidFill>
                    <a:srgbClr val="0070C0"/>
                  </a:solidFill>
                </a:rPr>
                <a:t>18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Distribución de gastos del 2022 (ejecución finalizada).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2" name="Grupo 11"/>
          <p:cNvGrpSpPr/>
          <p:nvPr/>
        </p:nvGrpSpPr>
        <p:grpSpPr>
          <a:xfrm>
            <a:off x="6516736" y="1985532"/>
            <a:ext cx="4900366" cy="3973619"/>
            <a:chOff x="6623416" y="2171702"/>
            <a:chExt cx="4900366" cy="3973619"/>
          </a:xfrm>
        </p:grpSpPr>
        <p:pic>
          <p:nvPicPr>
            <p:cNvPr id="9" name="Imagen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23416" y="2171702"/>
              <a:ext cx="4900366" cy="3257550"/>
            </a:xfrm>
            <a:prstGeom prst="rect">
              <a:avLst/>
            </a:prstGeom>
            <a:ln w="28575">
              <a:solidFill>
                <a:srgbClr val="960000"/>
              </a:solidFill>
            </a:ln>
          </p:spPr>
        </p:pic>
        <p:sp>
          <p:nvSpPr>
            <p:cNvPr id="16" name="CuadroTexto 15"/>
            <p:cNvSpPr txBox="1"/>
            <p:nvPr/>
          </p:nvSpPr>
          <p:spPr>
            <a:xfrm>
              <a:off x="6923530" y="5622101"/>
              <a:ext cx="43001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</a:t>
              </a:r>
              <a:r>
                <a:rPr lang="es-AR" sz="1400" b="1" i="1" u="sng" dirty="0" smtClean="0">
                  <a:solidFill>
                    <a:srgbClr val="0070C0"/>
                  </a:solidFill>
                </a:rPr>
                <a:t>19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Distribución de gastos del 2022 (ejecución finalizada).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4128008" y="5956174"/>
            <a:ext cx="4300136" cy="901826"/>
            <a:chOff x="6015810" y="4052870"/>
            <a:chExt cx="5253066" cy="1180043"/>
          </a:xfrm>
        </p:grpSpPr>
        <p:sp>
          <p:nvSpPr>
            <p:cNvPr id="19" name="Rectángulo redondeado 18"/>
            <p:cNvSpPr/>
            <p:nvPr/>
          </p:nvSpPr>
          <p:spPr>
            <a:xfrm>
              <a:off x="6015810" y="4052870"/>
              <a:ext cx="5104858" cy="778886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6147898" y="4145550"/>
              <a:ext cx="5120978" cy="10873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2400" b="1" i="1" u="sng" dirty="0" smtClean="0">
                  <a:solidFill>
                    <a:srgbClr val="960000"/>
                  </a:solidFill>
                </a:rPr>
                <a:t>TOTAL 2022</a:t>
              </a:r>
              <a:r>
                <a:rPr lang="es-AR" sz="2400" b="1" i="1" u="sng" dirty="0" smtClean="0">
                  <a:solidFill>
                    <a:srgbClr val="960000"/>
                  </a:solidFill>
                </a:rPr>
                <a:t>:</a:t>
              </a:r>
              <a:r>
                <a:rPr lang="es-AR" sz="2400" b="1" i="1" dirty="0" smtClean="0">
                  <a:solidFill>
                    <a:srgbClr val="960000"/>
                  </a:solidFill>
                </a:rPr>
                <a:t> </a:t>
              </a:r>
              <a:r>
                <a:rPr lang="es-AR" sz="2400" b="1" i="1" dirty="0">
                  <a:solidFill>
                    <a:srgbClr val="960000"/>
                  </a:solidFill>
                </a:rPr>
                <a:t>$ </a:t>
              </a:r>
              <a:r>
                <a:rPr lang="es-AR" sz="2400" b="1" i="1" dirty="0" smtClean="0">
                  <a:solidFill>
                    <a:srgbClr val="960000"/>
                  </a:solidFill>
                </a:rPr>
                <a:t>4.570.227,86 </a:t>
              </a:r>
              <a:endParaRPr lang="es-AR" sz="2400" b="1" i="1" dirty="0">
                <a:solidFill>
                  <a:srgbClr val="960000"/>
                </a:solidFill>
              </a:endParaRPr>
            </a:p>
            <a:p>
              <a:r>
                <a:rPr lang="es-AR" sz="2400" b="1" i="1" dirty="0" smtClean="0">
                  <a:solidFill>
                    <a:srgbClr val="960000"/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14150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863380" y="647206"/>
            <a:ext cx="8474788" cy="7994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4000" b="1" u="sng" dirty="0">
                <a:solidFill>
                  <a:srgbClr val="B80000"/>
                </a:solidFill>
              </a:rPr>
              <a:t>Gestión </a:t>
            </a:r>
            <a:r>
              <a:rPr lang="es-AR" sz="4000" b="1" u="sng" dirty="0" smtClean="0">
                <a:solidFill>
                  <a:srgbClr val="B80000"/>
                </a:solidFill>
              </a:rPr>
              <a:t>Presupuestaria</a:t>
            </a:r>
            <a:endParaRPr lang="es-AR" sz="4000" b="1" u="sng" dirty="0">
              <a:solidFill>
                <a:srgbClr val="B80000"/>
              </a:solidFill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863380" y="1447595"/>
            <a:ext cx="10288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Compras realizadas a solicitud de los Departamentos en el 2023</a:t>
            </a:r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:</a:t>
            </a:r>
            <a:endParaRPr lang="es-AR" sz="24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538128" y="1982554"/>
            <a:ext cx="5610649" cy="3973620"/>
            <a:chOff x="538128" y="2171701"/>
            <a:chExt cx="5610649" cy="3973620"/>
          </a:xfrm>
        </p:grpSpPr>
        <p:sp>
          <p:nvSpPr>
            <p:cNvPr id="15" name="CuadroTexto 14"/>
            <p:cNvSpPr txBox="1"/>
            <p:nvPr/>
          </p:nvSpPr>
          <p:spPr>
            <a:xfrm>
              <a:off x="1229431" y="5622101"/>
              <a:ext cx="43001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</a:t>
              </a:r>
              <a:r>
                <a:rPr lang="es-AR" sz="1400" b="1" i="1" u="sng" dirty="0" smtClean="0">
                  <a:solidFill>
                    <a:srgbClr val="0070C0"/>
                  </a:solidFill>
                </a:rPr>
                <a:t>20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Distribución de gastos del 2023 (ejecución parcial).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  <p:pic>
          <p:nvPicPr>
            <p:cNvPr id="2" name="Imagen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8128" y="2171701"/>
              <a:ext cx="5610649" cy="3450399"/>
            </a:xfrm>
            <a:prstGeom prst="rect">
              <a:avLst/>
            </a:prstGeom>
            <a:ln w="28575">
              <a:solidFill>
                <a:srgbClr val="960000"/>
              </a:solidFill>
            </a:ln>
          </p:spPr>
        </p:pic>
      </p:grpSp>
      <p:grpSp>
        <p:nvGrpSpPr>
          <p:cNvPr id="8" name="Grupo 7"/>
          <p:cNvGrpSpPr/>
          <p:nvPr/>
        </p:nvGrpSpPr>
        <p:grpSpPr>
          <a:xfrm>
            <a:off x="6306840" y="1982554"/>
            <a:ext cx="5198341" cy="3973620"/>
            <a:chOff x="6346444" y="2171701"/>
            <a:chExt cx="5198341" cy="3973620"/>
          </a:xfrm>
        </p:grpSpPr>
        <p:sp>
          <p:nvSpPr>
            <p:cNvPr id="16" name="CuadroTexto 15"/>
            <p:cNvSpPr txBox="1"/>
            <p:nvPr/>
          </p:nvSpPr>
          <p:spPr>
            <a:xfrm>
              <a:off x="6923530" y="5622101"/>
              <a:ext cx="43001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</a:t>
              </a:r>
              <a:r>
                <a:rPr lang="es-AR" sz="1400" b="1" i="1" u="sng" dirty="0" smtClean="0">
                  <a:solidFill>
                    <a:srgbClr val="0070C0"/>
                  </a:solidFill>
                </a:rPr>
                <a:t>21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Distribución de gastos del 2023 (ejecución parcial).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  <p:pic>
          <p:nvPicPr>
            <p:cNvPr id="5" name="Imagen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46444" y="2171701"/>
              <a:ext cx="5198341" cy="3450399"/>
            </a:xfrm>
            <a:prstGeom prst="rect">
              <a:avLst/>
            </a:prstGeom>
            <a:ln w="28575">
              <a:solidFill>
                <a:srgbClr val="960000"/>
              </a:solidFill>
            </a:ln>
          </p:spPr>
        </p:pic>
      </p:grpSp>
      <p:grpSp>
        <p:nvGrpSpPr>
          <p:cNvPr id="14" name="Grupo 13"/>
          <p:cNvGrpSpPr/>
          <p:nvPr/>
        </p:nvGrpSpPr>
        <p:grpSpPr>
          <a:xfrm>
            <a:off x="4086495" y="5955101"/>
            <a:ext cx="4440690" cy="902899"/>
            <a:chOff x="6015810" y="4052870"/>
            <a:chExt cx="5424767" cy="1181447"/>
          </a:xfrm>
        </p:grpSpPr>
        <p:sp>
          <p:nvSpPr>
            <p:cNvPr id="17" name="Rectángulo redondeado 16"/>
            <p:cNvSpPr/>
            <p:nvPr/>
          </p:nvSpPr>
          <p:spPr>
            <a:xfrm>
              <a:off x="6015810" y="4052870"/>
              <a:ext cx="5385155" cy="778886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8" name="CuadroTexto 17"/>
            <p:cNvSpPr txBox="1"/>
            <p:nvPr/>
          </p:nvSpPr>
          <p:spPr>
            <a:xfrm>
              <a:off x="6101034" y="4146954"/>
              <a:ext cx="5339543" cy="10873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2400" b="1" i="1" u="sng" dirty="0" smtClean="0">
                  <a:solidFill>
                    <a:srgbClr val="960000"/>
                  </a:solidFill>
                </a:rPr>
                <a:t>PARCIAL 2023</a:t>
              </a:r>
              <a:r>
                <a:rPr lang="es-AR" sz="2400" b="1" i="1" u="sng" dirty="0" smtClean="0">
                  <a:solidFill>
                    <a:srgbClr val="960000"/>
                  </a:solidFill>
                </a:rPr>
                <a:t>:</a:t>
              </a:r>
              <a:r>
                <a:rPr lang="es-AR" sz="2400" b="1" i="1" dirty="0" smtClean="0">
                  <a:solidFill>
                    <a:srgbClr val="960000"/>
                  </a:solidFill>
                </a:rPr>
                <a:t> $7.982.486.54  </a:t>
              </a:r>
              <a:endParaRPr lang="es-AR" sz="2400" b="1" i="1" dirty="0">
                <a:solidFill>
                  <a:srgbClr val="960000"/>
                </a:solidFill>
              </a:endParaRPr>
            </a:p>
            <a:p>
              <a:r>
                <a:rPr lang="es-AR" sz="2400" b="1" i="1" dirty="0" smtClean="0">
                  <a:solidFill>
                    <a:srgbClr val="960000"/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96120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863380" y="647206"/>
            <a:ext cx="8474788" cy="7994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4000" b="1" u="sng" dirty="0">
                <a:solidFill>
                  <a:srgbClr val="B80000"/>
                </a:solidFill>
              </a:rPr>
              <a:t>Gestión </a:t>
            </a:r>
            <a:r>
              <a:rPr lang="es-AR" sz="4000" b="1" u="sng" dirty="0" smtClean="0">
                <a:solidFill>
                  <a:srgbClr val="B80000"/>
                </a:solidFill>
              </a:rPr>
              <a:t>Presupuestaria</a:t>
            </a:r>
            <a:endParaRPr lang="es-AR" sz="4000" b="1" u="sng" dirty="0">
              <a:solidFill>
                <a:srgbClr val="B80000"/>
              </a:solidFill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863380" y="1338857"/>
            <a:ext cx="10288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Compras acumuladas de los Departamentos período 2021-2022-2023</a:t>
            </a:r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:</a:t>
            </a:r>
            <a:endParaRPr lang="es-AR" sz="24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22" name="Grupo 21"/>
          <p:cNvGrpSpPr/>
          <p:nvPr/>
        </p:nvGrpSpPr>
        <p:grpSpPr>
          <a:xfrm>
            <a:off x="404393" y="2322311"/>
            <a:ext cx="5767807" cy="3862654"/>
            <a:chOff x="404393" y="2322311"/>
            <a:chExt cx="5767807" cy="3862654"/>
          </a:xfrm>
        </p:grpSpPr>
        <p:sp>
          <p:nvSpPr>
            <p:cNvPr id="15" name="CuadroTexto 14"/>
            <p:cNvSpPr txBox="1"/>
            <p:nvPr/>
          </p:nvSpPr>
          <p:spPr>
            <a:xfrm>
              <a:off x="1098614" y="5661745"/>
              <a:ext cx="45617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</a:t>
              </a:r>
              <a:r>
                <a:rPr lang="es-AR" sz="1400" b="1" i="1" u="sng" dirty="0" smtClean="0">
                  <a:solidFill>
                    <a:srgbClr val="0070C0"/>
                  </a:solidFill>
                </a:rPr>
                <a:t>22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Acumulado de compras 2021-2022-2023 cuantitativo.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  <p:pic>
          <p:nvPicPr>
            <p:cNvPr id="19" name="Imagen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4393" y="2322311"/>
              <a:ext cx="5767807" cy="3179385"/>
            </a:xfrm>
            <a:prstGeom prst="rect">
              <a:avLst/>
            </a:prstGeom>
            <a:ln w="28575">
              <a:solidFill>
                <a:srgbClr val="960000"/>
              </a:solidFill>
            </a:ln>
          </p:spPr>
        </p:pic>
      </p:grpSp>
      <p:grpSp>
        <p:nvGrpSpPr>
          <p:cNvPr id="23" name="Grupo 22"/>
          <p:cNvGrpSpPr/>
          <p:nvPr/>
        </p:nvGrpSpPr>
        <p:grpSpPr>
          <a:xfrm>
            <a:off x="6460827" y="2303456"/>
            <a:ext cx="5289595" cy="3855062"/>
            <a:chOff x="6445587" y="2169854"/>
            <a:chExt cx="5289595" cy="3855062"/>
          </a:xfrm>
        </p:grpSpPr>
        <p:sp>
          <p:nvSpPr>
            <p:cNvPr id="16" name="CuadroTexto 15"/>
            <p:cNvSpPr txBox="1"/>
            <p:nvPr/>
          </p:nvSpPr>
          <p:spPr>
            <a:xfrm>
              <a:off x="6855133" y="5501696"/>
              <a:ext cx="44705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1400" b="1" i="1" u="sng" dirty="0" smtClean="0">
                  <a:solidFill>
                    <a:srgbClr val="0070C0"/>
                  </a:solidFill>
                </a:rPr>
                <a:t>Fig. </a:t>
              </a:r>
              <a:r>
                <a:rPr lang="es-AR" sz="1400" b="1" i="1" u="sng" dirty="0" smtClean="0">
                  <a:solidFill>
                    <a:srgbClr val="0070C0"/>
                  </a:solidFill>
                </a:rPr>
                <a:t>23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: </a:t>
              </a:r>
              <a:r>
                <a:rPr lang="es-AR" sz="1400" b="1" i="1" dirty="0">
                  <a:solidFill>
                    <a:srgbClr val="0070C0"/>
                  </a:solidFill>
                </a:rPr>
                <a:t>Acumulado de compras </a:t>
              </a:r>
              <a:r>
                <a:rPr lang="es-AR" sz="1400" b="1" i="1" dirty="0" smtClean="0">
                  <a:solidFill>
                    <a:srgbClr val="0070C0"/>
                  </a:solidFill>
                </a:rPr>
                <a:t>2021-2022-2023 porcentual.</a:t>
              </a:r>
              <a:endParaRPr lang="es-AR" sz="1400" b="1" i="1" dirty="0">
                <a:solidFill>
                  <a:srgbClr val="0070C0"/>
                </a:solidFill>
              </a:endParaRPr>
            </a:p>
          </p:txBody>
        </p:sp>
        <p:pic>
          <p:nvPicPr>
            <p:cNvPr id="20" name="Imagen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5587" y="2169854"/>
              <a:ext cx="5289595" cy="3179385"/>
            </a:xfrm>
            <a:prstGeom prst="rect">
              <a:avLst/>
            </a:prstGeom>
            <a:ln w="28575">
              <a:solidFill>
                <a:srgbClr val="96000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6598901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863380" y="647206"/>
            <a:ext cx="8474788" cy="7994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4000" b="1" u="sng" dirty="0">
                <a:solidFill>
                  <a:srgbClr val="B80000"/>
                </a:solidFill>
              </a:rPr>
              <a:t>Gestión </a:t>
            </a:r>
            <a:r>
              <a:rPr lang="es-AR" sz="4000" b="1" u="sng" dirty="0" smtClean="0">
                <a:solidFill>
                  <a:srgbClr val="B80000"/>
                </a:solidFill>
              </a:rPr>
              <a:t>Presupuestaria</a:t>
            </a:r>
            <a:endParaRPr lang="es-AR" sz="4000" b="1" u="sng" dirty="0">
              <a:solidFill>
                <a:srgbClr val="B80000"/>
              </a:solidFill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863380" y="1447595"/>
            <a:ext cx="9180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Recursos propios registrados po</a:t>
            </a:r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r Servicios a Terceros 2023</a:t>
            </a:r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:</a:t>
            </a:r>
            <a:endParaRPr lang="es-AR" sz="24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1024758" y="1995426"/>
            <a:ext cx="8152032" cy="3416320"/>
            <a:chOff x="863380" y="2310743"/>
            <a:chExt cx="8152032" cy="3471294"/>
          </a:xfrm>
        </p:grpSpPr>
        <p:sp>
          <p:nvSpPr>
            <p:cNvPr id="14" name="Rectángulo redondeado 13"/>
            <p:cNvSpPr/>
            <p:nvPr/>
          </p:nvSpPr>
          <p:spPr>
            <a:xfrm>
              <a:off x="863380" y="2310743"/>
              <a:ext cx="8152032" cy="3465245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1" name="CuadroTexto 10"/>
            <p:cNvSpPr txBox="1"/>
            <p:nvPr/>
          </p:nvSpPr>
          <p:spPr>
            <a:xfrm>
              <a:off x="1152564" y="2310743"/>
              <a:ext cx="7862848" cy="34712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AR" sz="2400" b="1" i="1" dirty="0" smtClean="0">
                  <a:solidFill>
                    <a:schemeClr val="bg2">
                      <a:lumMod val="75000"/>
                    </a:schemeClr>
                  </a:solidFill>
                </a:rPr>
                <a:t>Grupo GER – Dr. Manuel Cáceres.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AR" sz="2400" b="1" i="1" dirty="0" smtClean="0">
                  <a:solidFill>
                    <a:schemeClr val="bg2">
                      <a:lumMod val="75000"/>
                    </a:schemeClr>
                  </a:solidFill>
                </a:rPr>
                <a:t>LABAPI-LABQUIAM, Esp. Juan Daniel Ruiz Díaz.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AR" sz="2400" b="1" i="1" dirty="0" smtClean="0">
                  <a:solidFill>
                    <a:schemeClr val="bg2">
                      <a:lumMod val="75000"/>
                    </a:schemeClr>
                  </a:solidFill>
                </a:rPr>
                <a:t>LIMNOLOGÍA, Dra. </a:t>
              </a:r>
              <a:r>
                <a:rPr lang="es-AR" sz="2400" b="1" i="1" dirty="0" err="1" smtClean="0">
                  <a:solidFill>
                    <a:schemeClr val="bg2">
                      <a:lumMod val="75000"/>
                    </a:schemeClr>
                  </a:solidFill>
                </a:rPr>
                <a:t>Sylvina</a:t>
              </a:r>
              <a:r>
                <a:rPr lang="es-AR" sz="2400" b="1" i="1" dirty="0" smtClean="0">
                  <a:solidFill>
                    <a:schemeClr val="bg2">
                      <a:lumMod val="75000"/>
                    </a:schemeClr>
                  </a:solidFill>
                </a:rPr>
                <a:t> Casco.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AR" sz="2400" b="1" i="1" dirty="0" smtClean="0">
                  <a:solidFill>
                    <a:schemeClr val="bg2">
                      <a:lumMod val="75000"/>
                    </a:schemeClr>
                  </a:solidFill>
                </a:rPr>
                <a:t>ELECTRÓNICA II, Ing. Daniel Valdez.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AR" sz="2400" b="1" i="1" dirty="0" smtClean="0">
                  <a:solidFill>
                    <a:schemeClr val="bg2">
                      <a:lumMod val="75000"/>
                    </a:schemeClr>
                  </a:solidFill>
                </a:rPr>
                <a:t>LAB. QUIMICA ANALITICA, Dr. Roberto </a:t>
              </a:r>
              <a:r>
                <a:rPr lang="es-AR" sz="2400" b="1" i="1" dirty="0" err="1" smtClean="0">
                  <a:solidFill>
                    <a:schemeClr val="bg2">
                      <a:lumMod val="75000"/>
                    </a:schemeClr>
                  </a:solidFill>
                </a:rPr>
                <a:t>Pellerano</a:t>
              </a:r>
              <a:r>
                <a:rPr lang="es-AR" sz="2400" b="1" i="1" dirty="0" smtClean="0">
                  <a:solidFill>
                    <a:schemeClr val="bg2">
                      <a:lumMod val="75000"/>
                    </a:schemeClr>
                  </a:solidFill>
                </a:rPr>
                <a:t>.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s-AR" sz="2400" b="1" i="1" dirty="0" smtClean="0">
                  <a:solidFill>
                    <a:schemeClr val="bg2">
                      <a:lumMod val="75000"/>
                    </a:schemeClr>
                  </a:solidFill>
                </a:rPr>
                <a:t>LAB. PRODUCTOS NATURALES, Dr. Gonzalo Ojeda</a:t>
              </a:r>
            </a:p>
          </p:txBody>
        </p:sp>
      </p:grpSp>
      <p:grpSp>
        <p:nvGrpSpPr>
          <p:cNvPr id="9" name="Grupo 8"/>
          <p:cNvGrpSpPr/>
          <p:nvPr/>
        </p:nvGrpSpPr>
        <p:grpSpPr>
          <a:xfrm>
            <a:off x="2790824" y="5694781"/>
            <a:ext cx="6751349" cy="782219"/>
            <a:chOff x="2714624" y="5816701"/>
            <a:chExt cx="6751349" cy="782219"/>
          </a:xfrm>
        </p:grpSpPr>
        <p:sp>
          <p:nvSpPr>
            <p:cNvPr id="17" name="Rectángulo redondeado 16"/>
            <p:cNvSpPr/>
            <p:nvPr/>
          </p:nvSpPr>
          <p:spPr>
            <a:xfrm>
              <a:off x="2714624" y="5816701"/>
              <a:ext cx="6257377" cy="591239"/>
            </a:xfrm>
            <a:prstGeom prst="round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2" name="CuadroTexto 11"/>
            <p:cNvSpPr txBox="1"/>
            <p:nvPr/>
          </p:nvSpPr>
          <p:spPr>
            <a:xfrm>
              <a:off x="2848890" y="5902867"/>
              <a:ext cx="6617083" cy="696053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defPPr>
                <a:defRPr lang="es-AR"/>
              </a:defPPr>
              <a:lvl1pPr defTabSz="457200">
                <a:spcBef>
                  <a:spcPct val="0"/>
                </a:spcBef>
                <a:buNone/>
                <a:defRPr sz="4000" b="1" i="0" u="sng">
                  <a:solidFill>
                    <a:srgbClr val="B80000"/>
                  </a:solidFill>
                  <a:latin typeface="+mj-lt"/>
                  <a:ea typeface="+mj-ea"/>
                  <a:cs typeface="+mj-cs"/>
                </a:defRPr>
              </a:lvl1pPr>
              <a:lvl2pPr>
                <a:defRPr>
                  <a:solidFill>
                    <a:schemeClr val="tx2"/>
                  </a:solidFill>
                </a:defRPr>
              </a:lvl2pPr>
              <a:lvl3pPr>
                <a:defRPr>
                  <a:solidFill>
                    <a:schemeClr val="tx2"/>
                  </a:solidFill>
                </a:defRPr>
              </a:lvl3pPr>
              <a:lvl4pPr>
                <a:defRPr>
                  <a:solidFill>
                    <a:schemeClr val="tx2"/>
                  </a:solidFill>
                </a:defRPr>
              </a:lvl4pPr>
              <a:lvl5pPr>
                <a:defRPr>
                  <a:solidFill>
                    <a:schemeClr val="tx2"/>
                  </a:solidFill>
                </a:defRPr>
              </a:lvl5pPr>
              <a:lvl6pPr>
                <a:defRPr>
                  <a:solidFill>
                    <a:schemeClr val="tx2"/>
                  </a:solidFill>
                </a:defRPr>
              </a:lvl6pPr>
              <a:lvl7pPr>
                <a:defRPr>
                  <a:solidFill>
                    <a:schemeClr val="tx2"/>
                  </a:solidFill>
                </a:defRPr>
              </a:lvl7pPr>
              <a:lvl8pPr>
                <a:defRPr>
                  <a:solidFill>
                    <a:schemeClr val="tx2"/>
                  </a:solidFill>
                </a:defRPr>
              </a:lvl8pPr>
              <a:lvl9pPr>
                <a:defRPr>
                  <a:solidFill>
                    <a:schemeClr val="tx2"/>
                  </a:solidFill>
                </a:defRPr>
              </a:lvl9pPr>
            </a:lstStyle>
            <a:p>
              <a:r>
                <a:rPr lang="es-AR" sz="2800" u="none" dirty="0" smtClean="0"/>
                <a:t>Recaudación </a:t>
              </a:r>
              <a:r>
                <a:rPr lang="es-AR" sz="2800" u="none" dirty="0"/>
                <a:t>2023: $ 7.901.185,00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01230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863380" y="618065"/>
            <a:ext cx="8474788" cy="7994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4000" b="1" u="sng" dirty="0">
                <a:solidFill>
                  <a:srgbClr val="B80000"/>
                </a:solidFill>
              </a:rPr>
              <a:t>Gestión </a:t>
            </a:r>
            <a:r>
              <a:rPr lang="es-AR" sz="4000" b="1" u="sng" dirty="0" smtClean="0">
                <a:solidFill>
                  <a:srgbClr val="B80000"/>
                </a:solidFill>
              </a:rPr>
              <a:t>Infraestructura, </a:t>
            </a:r>
            <a:r>
              <a:rPr lang="es-AR" sz="4000" b="1" u="sng" dirty="0" err="1" smtClean="0">
                <a:solidFill>
                  <a:srgbClr val="B80000"/>
                </a:solidFill>
              </a:rPr>
              <a:t>HyS</a:t>
            </a:r>
            <a:r>
              <a:rPr lang="es-AR" sz="4000" b="1" u="sng" dirty="0" smtClean="0">
                <a:solidFill>
                  <a:srgbClr val="B80000"/>
                </a:solidFill>
              </a:rPr>
              <a:t> y TIC</a:t>
            </a:r>
            <a:endParaRPr lang="es-AR" sz="4000" b="1" u="sng" dirty="0">
              <a:solidFill>
                <a:srgbClr val="B80000"/>
              </a:solidFill>
            </a:endParaRPr>
          </a:p>
        </p:txBody>
      </p:sp>
      <p:sp>
        <p:nvSpPr>
          <p:cNvPr id="150" name="CuadroTexto 149"/>
          <p:cNvSpPr txBox="1"/>
          <p:nvPr/>
        </p:nvSpPr>
        <p:spPr>
          <a:xfrm>
            <a:off x="863380" y="1309751"/>
            <a:ext cx="898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Obras ejecutadas en el período 2022-2023 por edificio:</a:t>
            </a:r>
            <a:endParaRPr lang="es-AR" sz="24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06233" y="1684406"/>
            <a:ext cx="621106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b="1" i="1" dirty="0" smtClean="0">
                <a:solidFill>
                  <a:schemeClr val="bg2">
                    <a:lumMod val="75000"/>
                  </a:schemeClr>
                </a:solidFill>
              </a:rPr>
              <a:t>EJECUTADAS - CAMPUS</a:t>
            </a:r>
            <a:endParaRPr lang="es-AR" sz="1600" b="1" i="1" dirty="0" smtClean="0">
              <a:solidFill>
                <a:schemeClr val="bg2">
                  <a:lumMod val="75000"/>
                </a:schemeClr>
              </a:solidFill>
            </a:endParaRPr>
          </a:p>
          <a:p>
            <a:pPr marL="182563" indent="-160338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s-AR" sz="1600" b="1" i="1" dirty="0">
                <a:solidFill>
                  <a:srgbClr val="00B050"/>
                </a:solidFill>
              </a:rPr>
              <a:t>Ingreso de Química</a:t>
            </a:r>
            <a:r>
              <a:rPr lang="es-AR" sz="1600" b="1" i="1" dirty="0" smtClean="0">
                <a:solidFill>
                  <a:srgbClr val="00B050"/>
                </a:solidFill>
              </a:rPr>
              <a:t>. </a:t>
            </a:r>
            <a:r>
              <a:rPr lang="es-AR" sz="1600" b="1" i="1" u="sng" dirty="0" smtClean="0">
                <a:solidFill>
                  <a:srgbClr val="00B050"/>
                </a:solidFill>
              </a:rPr>
              <a:t>FOTO</a:t>
            </a:r>
            <a:endParaRPr lang="es-AR" sz="1600" b="1" i="1" u="sng" dirty="0">
              <a:solidFill>
                <a:srgbClr val="00B050"/>
              </a:solidFill>
            </a:endParaRPr>
          </a:p>
          <a:p>
            <a:pPr marL="182563" indent="-160338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s-AR" sz="1600" b="1" i="1" dirty="0">
                <a:solidFill>
                  <a:srgbClr val="00B050"/>
                </a:solidFill>
              </a:rPr>
              <a:t>Sala de Reuniones Ingeniería</a:t>
            </a:r>
            <a:r>
              <a:rPr lang="es-AR" sz="1600" b="1" i="1" dirty="0" smtClean="0">
                <a:solidFill>
                  <a:srgbClr val="00B050"/>
                </a:solidFill>
              </a:rPr>
              <a:t>. </a:t>
            </a:r>
            <a:r>
              <a:rPr lang="es-AR" sz="1600" b="1" i="1" u="sng" dirty="0" smtClean="0">
                <a:solidFill>
                  <a:srgbClr val="00B050"/>
                </a:solidFill>
              </a:rPr>
              <a:t>FOTO</a:t>
            </a:r>
            <a:endParaRPr lang="es-AR" sz="1600" b="1" i="1" u="sng" dirty="0">
              <a:solidFill>
                <a:srgbClr val="00B050"/>
              </a:solidFill>
            </a:endParaRPr>
          </a:p>
          <a:p>
            <a:pPr marL="182563" indent="-160338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s-AR" sz="1600" b="1" i="1" dirty="0">
                <a:solidFill>
                  <a:srgbClr val="00B050"/>
                </a:solidFill>
              </a:rPr>
              <a:t>Refacción de Baños en Ingeniería.</a:t>
            </a:r>
          </a:p>
          <a:p>
            <a:pPr marL="182563" indent="-160338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s-AR" sz="1600" b="1" i="1" dirty="0">
                <a:solidFill>
                  <a:srgbClr val="00B050"/>
                </a:solidFill>
              </a:rPr>
              <a:t>Ascensor de Ingeniería</a:t>
            </a:r>
            <a:r>
              <a:rPr lang="es-AR" sz="1600" b="1" i="1" dirty="0" smtClean="0">
                <a:solidFill>
                  <a:srgbClr val="00B050"/>
                </a:solidFill>
              </a:rPr>
              <a:t>. </a:t>
            </a:r>
            <a:r>
              <a:rPr lang="es-AR" sz="1600" b="1" i="1" u="sng" dirty="0" smtClean="0">
                <a:solidFill>
                  <a:srgbClr val="00B050"/>
                </a:solidFill>
              </a:rPr>
              <a:t>FOTO</a:t>
            </a:r>
            <a:endParaRPr lang="es-AR" sz="1600" b="1" i="1" u="sng" dirty="0">
              <a:solidFill>
                <a:srgbClr val="00B050"/>
              </a:solidFill>
            </a:endParaRPr>
          </a:p>
          <a:p>
            <a:pPr marL="182563" indent="-160338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s-AR" sz="1600" b="1" i="1" dirty="0">
                <a:solidFill>
                  <a:srgbClr val="00B050"/>
                </a:solidFill>
              </a:rPr>
              <a:t>Luminarias LED en Salón E</a:t>
            </a:r>
            <a:r>
              <a:rPr lang="es-AR" sz="1600" b="1" i="1" dirty="0" smtClean="0">
                <a:solidFill>
                  <a:srgbClr val="00B050"/>
                </a:solidFill>
              </a:rPr>
              <a:t>. </a:t>
            </a:r>
            <a:r>
              <a:rPr lang="es-AR" sz="1600" b="1" i="1" u="sng" dirty="0" smtClean="0">
                <a:solidFill>
                  <a:srgbClr val="00B050"/>
                </a:solidFill>
              </a:rPr>
              <a:t>FOTO</a:t>
            </a:r>
            <a:endParaRPr lang="es-AR" sz="1600" b="1" i="1" u="sng" dirty="0">
              <a:solidFill>
                <a:srgbClr val="00B050"/>
              </a:solidFill>
            </a:endParaRPr>
          </a:p>
          <a:p>
            <a:pPr marL="182563" indent="-160338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s-AR" sz="1600" b="1" i="1" dirty="0">
                <a:solidFill>
                  <a:srgbClr val="00B050"/>
                </a:solidFill>
              </a:rPr>
              <a:t>Refacciones por hundimientos en Bedelía Campus y Archivo DGE</a:t>
            </a:r>
            <a:r>
              <a:rPr lang="es-AR" sz="1600" b="1" i="1" dirty="0" smtClean="0">
                <a:solidFill>
                  <a:srgbClr val="00B050"/>
                </a:solidFill>
              </a:rPr>
              <a:t>. </a:t>
            </a:r>
            <a:r>
              <a:rPr lang="es-AR" sz="1600" b="1" i="1" u="sng" dirty="0" smtClean="0">
                <a:solidFill>
                  <a:srgbClr val="00B050"/>
                </a:solidFill>
              </a:rPr>
              <a:t>FOTO</a:t>
            </a:r>
            <a:endParaRPr lang="es-AR" sz="1600" b="1" i="1" u="sng" dirty="0">
              <a:solidFill>
                <a:srgbClr val="00B050"/>
              </a:solidFill>
            </a:endParaRPr>
          </a:p>
          <a:p>
            <a:pPr marL="182563" indent="-160338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s-AR" sz="1600" b="1" i="1" dirty="0" smtClean="0">
                <a:solidFill>
                  <a:srgbClr val="00B050"/>
                </a:solidFill>
              </a:rPr>
              <a:t>Refuerzo </a:t>
            </a:r>
            <a:r>
              <a:rPr lang="es-AR" sz="1600" b="1" i="1" dirty="0">
                <a:solidFill>
                  <a:srgbClr val="00B050"/>
                </a:solidFill>
              </a:rPr>
              <a:t>de mesas de estudio común en el Hall de Ingeniería.</a:t>
            </a:r>
          </a:p>
          <a:p>
            <a:pPr marL="182563" indent="-160338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s-AR" sz="1600" b="1" i="1" dirty="0" smtClean="0">
                <a:solidFill>
                  <a:srgbClr val="00B050"/>
                </a:solidFill>
              </a:rPr>
              <a:t>Renovación </a:t>
            </a:r>
            <a:r>
              <a:rPr lang="es-AR" sz="1600" b="1" i="1" dirty="0">
                <a:solidFill>
                  <a:srgbClr val="00B050"/>
                </a:solidFill>
              </a:rPr>
              <a:t>de sillas en Laboratorios de Física.</a:t>
            </a:r>
          </a:p>
          <a:p>
            <a:pPr marL="182563" indent="-160338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s-AR" sz="1600" b="1" i="1" dirty="0">
                <a:solidFill>
                  <a:srgbClr val="00B050"/>
                </a:solidFill>
              </a:rPr>
              <a:t>Reacondicionamiento del Laboratorio de Informática de </a:t>
            </a:r>
            <a:r>
              <a:rPr lang="es-AR" sz="1600" b="1" i="1" dirty="0" smtClean="0">
                <a:solidFill>
                  <a:srgbClr val="00B050"/>
                </a:solidFill>
              </a:rPr>
              <a:t>Biología y Física.</a:t>
            </a:r>
            <a:endParaRPr lang="es-AR" sz="1600" b="1" i="1" dirty="0" smtClean="0">
              <a:solidFill>
                <a:srgbClr val="00B050"/>
              </a:solidFill>
            </a:endParaRPr>
          </a:p>
          <a:p>
            <a:pPr marL="185738" indent="-185738">
              <a:buFont typeface="Arial" panose="020B0604020202020204" pitchFamily="34" charset="0"/>
              <a:buChar char="•"/>
            </a:pPr>
            <a:r>
              <a:rPr lang="es-AR" sz="1600" b="1" i="1" dirty="0">
                <a:solidFill>
                  <a:srgbClr val="00B050"/>
                </a:solidFill>
              </a:rPr>
              <a:t>Relevamiento de depósitos.</a:t>
            </a:r>
          </a:p>
          <a:p>
            <a:pPr marL="200025" indent="-200025">
              <a:buFont typeface="Arial" panose="020B0604020202020204" pitchFamily="34" charset="0"/>
              <a:buChar char="•"/>
            </a:pPr>
            <a:r>
              <a:rPr lang="es-AR" sz="1600" b="1" i="1" dirty="0">
                <a:solidFill>
                  <a:srgbClr val="00B050"/>
                </a:solidFill>
              </a:rPr>
              <a:t>Relevamiento de ubicación y condiciones de resguardo de químicos en Dptos. De Química, Bioquímica y Biología</a:t>
            </a:r>
            <a:r>
              <a:rPr lang="es-AR" sz="1600" b="1" i="1" dirty="0" smtClean="0">
                <a:solidFill>
                  <a:srgbClr val="00B050"/>
                </a:solidFill>
              </a:rPr>
              <a:t>.</a:t>
            </a:r>
          </a:p>
          <a:p>
            <a:pPr marL="200025" indent="-200025">
              <a:buFont typeface="Arial" panose="020B0604020202020204" pitchFamily="34" charset="0"/>
              <a:buChar char="•"/>
            </a:pPr>
            <a:r>
              <a:rPr lang="es-AR" sz="1600" b="1" i="1" dirty="0">
                <a:solidFill>
                  <a:srgbClr val="00B050"/>
                </a:solidFill>
              </a:rPr>
              <a:t>Intervención en fondo del pasillo del CD. </a:t>
            </a:r>
            <a:r>
              <a:rPr lang="es-AR" sz="1600" b="1" i="1" u="sng" dirty="0">
                <a:solidFill>
                  <a:srgbClr val="00B050"/>
                </a:solidFill>
              </a:rPr>
              <a:t>FOTO</a:t>
            </a:r>
          </a:p>
          <a:p>
            <a:endParaRPr lang="es-AR" sz="1600" b="1" i="1" dirty="0">
              <a:solidFill>
                <a:srgbClr val="00B050"/>
              </a:solidFill>
            </a:endParaRPr>
          </a:p>
          <a:p>
            <a:endParaRPr lang="es-AR" sz="16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206233" y="5890879"/>
            <a:ext cx="6211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b="1" i="1" dirty="0" smtClean="0">
                <a:solidFill>
                  <a:schemeClr val="bg2">
                    <a:lumMod val="75000"/>
                  </a:schemeClr>
                </a:solidFill>
              </a:rPr>
              <a:t>EJECUTADAS – 9 DE JULIO</a:t>
            </a:r>
            <a:endParaRPr lang="es-AR" sz="1600" b="1" i="1" dirty="0" smtClean="0">
              <a:solidFill>
                <a:schemeClr val="bg2">
                  <a:lumMod val="75000"/>
                </a:schemeClr>
              </a:solidFill>
            </a:endParaRPr>
          </a:p>
          <a:p>
            <a:pPr marL="182563" indent="-160338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s-AR" sz="1600" b="1" i="1" dirty="0" smtClean="0">
                <a:solidFill>
                  <a:srgbClr val="FF0000"/>
                </a:solidFill>
              </a:rPr>
              <a:t>Renovación de pintura en pasillo de ingreso a 9 de Julio.</a:t>
            </a:r>
          </a:p>
          <a:p>
            <a:pPr marL="182563" indent="-160338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s-AR" sz="1600" b="1" i="1" dirty="0" smtClean="0">
                <a:solidFill>
                  <a:srgbClr val="FF0000"/>
                </a:solidFill>
              </a:rPr>
              <a:t>Refacción </a:t>
            </a:r>
            <a:r>
              <a:rPr lang="es-AR" sz="1600" b="1" i="1" dirty="0" smtClean="0">
                <a:solidFill>
                  <a:srgbClr val="FF0000"/>
                </a:solidFill>
              </a:rPr>
              <a:t>del Dpto. de Humanidades</a:t>
            </a:r>
            <a:r>
              <a:rPr lang="es-AR" sz="1600" b="1" i="1" dirty="0" smtClean="0">
                <a:solidFill>
                  <a:srgbClr val="FF0000"/>
                </a:solidFill>
              </a:rPr>
              <a:t>.</a:t>
            </a:r>
            <a:endParaRPr lang="es-AR" sz="1600" b="1" i="1" dirty="0" smtClean="0">
              <a:solidFill>
                <a:srgbClr val="FF0000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6272212" y="1841242"/>
            <a:ext cx="571250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b="1" i="1" dirty="0" smtClean="0">
                <a:solidFill>
                  <a:schemeClr val="bg2">
                    <a:lumMod val="75000"/>
                  </a:schemeClr>
                </a:solidFill>
              </a:rPr>
              <a:t>EJECUTADAS – AMBAS SEDES</a:t>
            </a:r>
            <a:endParaRPr lang="es-AR" sz="1600" b="1" i="1" dirty="0" smtClean="0">
              <a:solidFill>
                <a:schemeClr val="bg2">
                  <a:lumMod val="75000"/>
                </a:schemeClr>
              </a:solidFill>
            </a:endParaRPr>
          </a:p>
          <a:p>
            <a:pPr marL="182563" indent="-160338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s-AR" sz="1600" b="1" i="1" dirty="0" smtClean="0">
                <a:solidFill>
                  <a:srgbClr val="0070C0"/>
                </a:solidFill>
              </a:rPr>
              <a:t>Instalación </a:t>
            </a:r>
            <a:r>
              <a:rPr lang="es-AR" sz="1600" b="1" i="1" dirty="0">
                <a:solidFill>
                  <a:srgbClr val="0070C0"/>
                </a:solidFill>
              </a:rPr>
              <a:t>de cañones fijos y </a:t>
            </a:r>
            <a:r>
              <a:rPr lang="es-AR" sz="1600" b="1" i="1" dirty="0" err="1">
                <a:solidFill>
                  <a:srgbClr val="0070C0"/>
                </a:solidFill>
              </a:rPr>
              <a:t>TVs</a:t>
            </a:r>
            <a:r>
              <a:rPr lang="es-AR" sz="1600" b="1" i="1" dirty="0">
                <a:solidFill>
                  <a:srgbClr val="0070C0"/>
                </a:solidFill>
              </a:rPr>
              <a:t> en Salones A, B, C, D de Ingeniería y </a:t>
            </a:r>
            <a:r>
              <a:rPr lang="es-AR" sz="1600" b="1" i="1" dirty="0" err="1">
                <a:solidFill>
                  <a:srgbClr val="0070C0"/>
                </a:solidFill>
              </a:rPr>
              <a:t>Lab</a:t>
            </a:r>
            <a:r>
              <a:rPr lang="es-AR" sz="1600" b="1" i="1" dirty="0">
                <a:solidFill>
                  <a:srgbClr val="0070C0"/>
                </a:solidFill>
              </a:rPr>
              <a:t>. de Química General.</a:t>
            </a:r>
          </a:p>
          <a:p>
            <a:pPr marL="182563" indent="-160338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s-AR" sz="1600" b="1" i="1" dirty="0">
                <a:solidFill>
                  <a:srgbClr val="0070C0"/>
                </a:solidFill>
              </a:rPr>
              <a:t>Instalación de </a:t>
            </a:r>
            <a:r>
              <a:rPr lang="es-AR" sz="1600" b="1" i="1" dirty="0" err="1">
                <a:solidFill>
                  <a:srgbClr val="0070C0"/>
                </a:solidFill>
              </a:rPr>
              <a:t>TVs</a:t>
            </a:r>
            <a:r>
              <a:rPr lang="es-AR" sz="1600" b="1" i="1" dirty="0">
                <a:solidFill>
                  <a:srgbClr val="0070C0"/>
                </a:solidFill>
              </a:rPr>
              <a:t> repetidoras en Aulas Magnas de 9 de julio y Campus, Aulas 1 y 2 de Química y Aula 5 de 9 de Julio</a:t>
            </a:r>
            <a:r>
              <a:rPr lang="es-AR" sz="1600" b="1" i="1" dirty="0" smtClean="0">
                <a:solidFill>
                  <a:srgbClr val="0070C0"/>
                </a:solidFill>
              </a:rPr>
              <a:t>. </a:t>
            </a:r>
            <a:r>
              <a:rPr lang="es-AR" sz="1600" b="1" i="1" u="sng" dirty="0" smtClean="0">
                <a:solidFill>
                  <a:srgbClr val="0070C0"/>
                </a:solidFill>
              </a:rPr>
              <a:t>FOTO</a:t>
            </a:r>
            <a:endParaRPr lang="es-AR" sz="1600" b="1" i="1" u="sng" dirty="0">
              <a:solidFill>
                <a:srgbClr val="0070C0"/>
              </a:solidFill>
            </a:endParaRPr>
          </a:p>
          <a:p>
            <a:pPr marL="182563" indent="-160338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s-AR" sz="1600" b="1" i="1" dirty="0" smtClean="0">
                <a:solidFill>
                  <a:srgbClr val="0070C0"/>
                </a:solidFill>
              </a:rPr>
              <a:t>Refuerzo </a:t>
            </a:r>
            <a:r>
              <a:rPr lang="es-AR" sz="1600" b="1" i="1" dirty="0">
                <a:solidFill>
                  <a:srgbClr val="0070C0"/>
                </a:solidFill>
              </a:rPr>
              <a:t>de sillas tándem en los pasillos de todos los edificios (aproximadamente 15 cuerpos</a:t>
            </a:r>
            <a:r>
              <a:rPr lang="es-AR" sz="1600" b="1" i="1" dirty="0" smtClean="0">
                <a:solidFill>
                  <a:srgbClr val="0070C0"/>
                </a:solidFill>
              </a:rPr>
              <a:t>).</a:t>
            </a:r>
          </a:p>
          <a:p>
            <a:pPr marL="182563" indent="-160338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s-AR" sz="1600" b="1" i="1" dirty="0">
                <a:solidFill>
                  <a:srgbClr val="0070C0"/>
                </a:solidFill>
              </a:rPr>
              <a:t>Relevamiento de aulas.</a:t>
            </a:r>
          </a:p>
          <a:p>
            <a:pPr marL="182563" indent="-160338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s-AR" sz="1600" b="1" i="1" u="sng" dirty="0">
                <a:solidFill>
                  <a:srgbClr val="0070C0"/>
                </a:solidFill>
              </a:rPr>
              <a:t>Higiene y Seguridad:</a:t>
            </a:r>
            <a:r>
              <a:rPr lang="es-AR" sz="1600" b="1" i="1" dirty="0">
                <a:solidFill>
                  <a:srgbClr val="0070C0"/>
                </a:solidFill>
              </a:rPr>
              <a:t> reubicación de matafuegos, pintura de escaleras y rampas, instalación de barandas en escaleras, confección de planos de evacuación.</a:t>
            </a:r>
          </a:p>
          <a:p>
            <a:pPr marL="182563" indent="-160338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s-AR" sz="1600" b="1" i="1" dirty="0">
                <a:solidFill>
                  <a:srgbClr val="0070C0"/>
                </a:solidFill>
              </a:rPr>
              <a:t>Instalación de muebles ceremoniales en Salón E y Aulas Magnas de Campus y 9 de julio. </a:t>
            </a:r>
            <a:r>
              <a:rPr lang="es-AR" sz="1600" b="1" i="1" u="sng" dirty="0">
                <a:solidFill>
                  <a:srgbClr val="0070C0"/>
                </a:solidFill>
              </a:rPr>
              <a:t>FOTO</a:t>
            </a:r>
          </a:p>
          <a:p>
            <a:pPr marL="182563" indent="-160338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s-AR" sz="1600" b="1" i="1" dirty="0">
                <a:solidFill>
                  <a:srgbClr val="0070C0"/>
                </a:solidFill>
              </a:rPr>
              <a:t>Compra de </a:t>
            </a:r>
            <a:r>
              <a:rPr lang="es-AR" sz="1600" b="1" i="1" dirty="0" smtClean="0">
                <a:solidFill>
                  <a:srgbClr val="0070C0"/>
                </a:solidFill>
              </a:rPr>
              <a:t>30 </a:t>
            </a:r>
            <a:r>
              <a:rPr lang="es-AR" sz="1600" b="1" i="1" dirty="0">
                <a:solidFill>
                  <a:srgbClr val="0070C0"/>
                </a:solidFill>
              </a:rPr>
              <a:t>notebooks. </a:t>
            </a:r>
            <a:r>
              <a:rPr lang="es-AR" sz="1600" b="1" i="1" u="sng" dirty="0">
                <a:solidFill>
                  <a:srgbClr val="0070C0"/>
                </a:solidFill>
              </a:rPr>
              <a:t>FOTO</a:t>
            </a:r>
          </a:p>
          <a:p>
            <a:pPr marL="182563" indent="-160338"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s-AR" sz="1600" b="1" i="1" dirty="0">
                <a:solidFill>
                  <a:srgbClr val="0070C0"/>
                </a:solidFill>
              </a:rPr>
              <a:t>Instalación de vinilos con logos institucionales en vidrios de ingreso a 9 de julio, </a:t>
            </a:r>
            <a:r>
              <a:rPr lang="es-AR" sz="1600" b="1" i="1" dirty="0" err="1">
                <a:solidFill>
                  <a:srgbClr val="0070C0"/>
                </a:solidFill>
              </a:rPr>
              <a:t>labs</a:t>
            </a:r>
            <a:r>
              <a:rPr lang="es-AR" sz="1600" b="1" i="1" dirty="0">
                <a:solidFill>
                  <a:srgbClr val="0070C0"/>
                </a:solidFill>
              </a:rPr>
              <a:t> y ventanas de Física. </a:t>
            </a:r>
            <a:r>
              <a:rPr lang="es-AR" sz="1600" b="1" i="1" u="sng" dirty="0" smtClean="0">
                <a:solidFill>
                  <a:srgbClr val="0070C0"/>
                </a:solidFill>
              </a:rPr>
              <a:t>FOTO</a:t>
            </a:r>
            <a:endParaRPr lang="es-AR" sz="1600" b="1" i="1" dirty="0">
              <a:solidFill>
                <a:srgbClr val="0070C0"/>
              </a:solidFill>
            </a:endParaRPr>
          </a:p>
          <a:p>
            <a:endParaRPr lang="es-AR" sz="16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8790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863380" y="700361"/>
            <a:ext cx="8474788" cy="7994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4000" b="1" u="sng" dirty="0">
                <a:solidFill>
                  <a:srgbClr val="B80000"/>
                </a:solidFill>
              </a:rPr>
              <a:t>Gestión </a:t>
            </a:r>
            <a:r>
              <a:rPr lang="es-AR" sz="4000" b="1" u="sng" dirty="0" smtClean="0">
                <a:solidFill>
                  <a:srgbClr val="B80000"/>
                </a:solidFill>
              </a:rPr>
              <a:t>Infraestructura, </a:t>
            </a:r>
            <a:r>
              <a:rPr lang="es-AR" sz="4000" b="1" u="sng" dirty="0" err="1" smtClean="0">
                <a:solidFill>
                  <a:srgbClr val="B80000"/>
                </a:solidFill>
              </a:rPr>
              <a:t>HyS</a:t>
            </a:r>
            <a:r>
              <a:rPr lang="es-AR" sz="4000" b="1" u="sng" dirty="0" smtClean="0">
                <a:solidFill>
                  <a:srgbClr val="B80000"/>
                </a:solidFill>
              </a:rPr>
              <a:t> y TIC</a:t>
            </a:r>
            <a:endParaRPr lang="es-AR" sz="4000" b="1" u="sng" dirty="0">
              <a:solidFill>
                <a:srgbClr val="B80000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51316" y="1879138"/>
            <a:ext cx="57660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b="1" i="1" dirty="0" smtClean="0">
                <a:solidFill>
                  <a:schemeClr val="bg2">
                    <a:lumMod val="75000"/>
                  </a:schemeClr>
                </a:solidFill>
              </a:rPr>
              <a:t>PLANIFICADAS - CAMPUS</a:t>
            </a:r>
            <a:endParaRPr lang="es-AR" sz="1600" b="1" i="1" dirty="0" smtClean="0">
              <a:solidFill>
                <a:schemeClr val="bg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600" b="1" i="1" dirty="0" smtClean="0">
                <a:solidFill>
                  <a:srgbClr val="00B050"/>
                </a:solidFill>
              </a:rPr>
              <a:t>Espacio de </a:t>
            </a:r>
            <a:r>
              <a:rPr lang="es-AR" sz="1600" b="1" i="1" dirty="0" err="1" smtClean="0">
                <a:solidFill>
                  <a:srgbClr val="00B050"/>
                </a:solidFill>
              </a:rPr>
              <a:t>coworking</a:t>
            </a:r>
            <a:r>
              <a:rPr lang="es-AR" sz="1600" b="1" i="1" dirty="0" smtClean="0">
                <a:solidFill>
                  <a:srgbClr val="00B050"/>
                </a:solidFill>
              </a:rPr>
              <a:t> </a:t>
            </a:r>
            <a:r>
              <a:rPr lang="es-AR" sz="1600" b="1" i="1" dirty="0" err="1" smtClean="0">
                <a:solidFill>
                  <a:srgbClr val="00B050"/>
                </a:solidFill>
              </a:rPr>
              <a:t>semicubierto</a:t>
            </a:r>
            <a:r>
              <a:rPr lang="es-AR" sz="1600" b="1" i="1" dirty="0" smtClean="0">
                <a:solidFill>
                  <a:srgbClr val="00B050"/>
                </a:solidFill>
              </a:rPr>
              <a:t> en Ingeniería - Campus.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600" b="1" i="1" dirty="0" smtClean="0">
                <a:solidFill>
                  <a:srgbClr val="00B050"/>
                </a:solidFill>
              </a:rPr>
              <a:t>Refuerzo de mesas externas de estudio - Campus.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600" b="1" i="1" dirty="0" smtClean="0">
                <a:solidFill>
                  <a:srgbClr val="00B050"/>
                </a:solidFill>
              </a:rPr>
              <a:t>Ampliación de biblioteca - Campus</a:t>
            </a:r>
            <a:r>
              <a:rPr lang="es-AR" sz="1600" b="1" i="1" dirty="0" smtClean="0">
                <a:solidFill>
                  <a:srgbClr val="00B050"/>
                </a:solidFill>
              </a:rPr>
              <a:t>.</a:t>
            </a:r>
            <a:endParaRPr lang="es-AR" sz="1600" b="1" i="1" dirty="0" smtClean="0">
              <a:solidFill>
                <a:schemeClr val="bg2">
                  <a:lumMod val="75000"/>
                </a:schemeClr>
              </a:solidFill>
            </a:endParaRPr>
          </a:p>
          <a:p>
            <a:endParaRPr lang="es-AR" sz="16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351316" y="3279521"/>
            <a:ext cx="576602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b="1" i="1" dirty="0" smtClean="0">
                <a:solidFill>
                  <a:schemeClr val="bg2">
                    <a:lumMod val="75000"/>
                  </a:schemeClr>
                </a:solidFill>
              </a:rPr>
              <a:t>PLANIFICADAS – 9 DE JULIO</a:t>
            </a:r>
            <a:endParaRPr lang="es-AR" sz="1600" b="1" i="1" dirty="0" smtClean="0">
              <a:solidFill>
                <a:schemeClr val="bg2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600" b="1" i="1" dirty="0" smtClean="0">
                <a:solidFill>
                  <a:srgbClr val="FF0000"/>
                </a:solidFill>
              </a:rPr>
              <a:t>Ampliación </a:t>
            </a:r>
            <a:r>
              <a:rPr lang="es-AR" sz="1600" b="1" i="1" dirty="0" smtClean="0">
                <a:solidFill>
                  <a:srgbClr val="FF0000"/>
                </a:solidFill>
              </a:rPr>
              <a:t>de Hemeroteca - 9 de Julio.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600" b="1" i="1" dirty="0" smtClean="0">
                <a:solidFill>
                  <a:srgbClr val="FF0000"/>
                </a:solidFill>
              </a:rPr>
              <a:t>Renovación </a:t>
            </a:r>
            <a:r>
              <a:rPr lang="es-AR" sz="1600" b="1" i="1" dirty="0" smtClean="0">
                <a:solidFill>
                  <a:srgbClr val="FF0000"/>
                </a:solidFill>
              </a:rPr>
              <a:t>de cielorraso y luminarias de pasillo del cuerpo de aulas - 9 de julio.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600" b="1" i="1" dirty="0" smtClean="0">
                <a:solidFill>
                  <a:srgbClr val="FF0000"/>
                </a:solidFill>
              </a:rPr>
              <a:t>Tomacorriente para Aula Magna – 9 de julio.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1600" b="1" i="1" dirty="0" smtClean="0">
                <a:solidFill>
                  <a:srgbClr val="FF0000"/>
                </a:solidFill>
              </a:rPr>
              <a:t>Punto para carga de celulares y notebook en espacios comunes de 9 e julio.</a:t>
            </a:r>
          </a:p>
          <a:p>
            <a:r>
              <a:rPr lang="es-AR" sz="1600" b="1" i="1" dirty="0" smtClean="0">
                <a:solidFill>
                  <a:srgbClr val="FF0000"/>
                </a:solidFill>
              </a:rPr>
              <a:t>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b="1" i="1" dirty="0">
                <a:solidFill>
                  <a:srgbClr val="FF0000"/>
                </a:solidFill>
              </a:rPr>
              <a:t>Renovación de pintura en pasillos del 1ro al 3er piso del cuerpo de aulas - 9 de julio</a:t>
            </a:r>
            <a:r>
              <a:rPr lang="es-AR" sz="1600" b="1" i="1" dirty="0" smtClean="0">
                <a:solidFill>
                  <a:srgbClr val="FF000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b="1" i="1" dirty="0">
                <a:solidFill>
                  <a:srgbClr val="FF0000"/>
                </a:solidFill>
              </a:rPr>
              <a:t>Renovación de la fachada del edificio - 9 de julio</a:t>
            </a:r>
            <a:r>
              <a:rPr lang="es-AR" sz="1600" b="1" i="1" dirty="0" smtClean="0">
                <a:solidFill>
                  <a:srgbClr val="FF0000"/>
                </a:solidFill>
              </a:rPr>
              <a:t>.</a:t>
            </a:r>
            <a:endParaRPr lang="es-AR" sz="1600" b="1" i="1" dirty="0" smtClean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863380" y="1417473"/>
            <a:ext cx="898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Obras planificadas para el resto del 2023 por edificio:</a:t>
            </a:r>
            <a:endParaRPr lang="es-AR" sz="24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6117336" y="2900152"/>
            <a:ext cx="5693664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-160338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92075" algn="l"/>
              </a:tabLst>
            </a:pPr>
            <a:r>
              <a:rPr lang="es-AR" b="1" i="1" dirty="0">
                <a:solidFill>
                  <a:srgbClr val="C00000"/>
                </a:solidFill>
              </a:rPr>
              <a:t>Expedientes de obras gestionados en Rectorado (techo de </a:t>
            </a:r>
            <a:r>
              <a:rPr lang="es-AR" b="1" i="1" dirty="0" err="1">
                <a:solidFill>
                  <a:srgbClr val="C00000"/>
                </a:solidFill>
              </a:rPr>
              <a:t>Labs</a:t>
            </a:r>
            <a:r>
              <a:rPr lang="es-AR" b="1" i="1" dirty="0">
                <a:solidFill>
                  <a:srgbClr val="C00000"/>
                </a:solidFill>
              </a:rPr>
              <a:t>. 21 y 22 de 9 de julio; techo de Ingeniería; Ascensor de 9 de julio).</a:t>
            </a:r>
          </a:p>
        </p:txBody>
      </p:sp>
    </p:spTree>
    <p:extLst>
      <p:ext uri="{BB962C8B-B14F-4D97-AF65-F5344CB8AC3E}">
        <p14:creationId xmlns:p14="http://schemas.microsoft.com/office/powerpoint/2010/main" val="16597772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863380" y="942589"/>
            <a:ext cx="8980708" cy="7994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4000" b="1" u="sng" dirty="0" smtClean="0">
                <a:solidFill>
                  <a:srgbClr val="B80000"/>
                </a:solidFill>
              </a:rPr>
              <a:t>Puesta en común de temas varios</a:t>
            </a:r>
            <a:endParaRPr lang="es-AR" sz="4000" b="1" u="sng" dirty="0">
              <a:solidFill>
                <a:srgbClr val="B80000"/>
              </a:solidFill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863380" y="2359572"/>
            <a:ext cx="8980708" cy="4178388"/>
            <a:chOff x="863380" y="2322286"/>
            <a:chExt cx="7131941" cy="6012032"/>
          </a:xfrm>
        </p:grpSpPr>
        <p:sp>
          <p:nvSpPr>
            <p:cNvPr id="10" name="Rectángulo redondeado 9"/>
            <p:cNvSpPr/>
            <p:nvPr/>
          </p:nvSpPr>
          <p:spPr>
            <a:xfrm>
              <a:off x="863380" y="2322286"/>
              <a:ext cx="7131941" cy="6012032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81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CuadroTexto 6"/>
            <p:cNvSpPr txBox="1"/>
            <p:nvPr/>
          </p:nvSpPr>
          <p:spPr>
            <a:xfrm>
              <a:off x="1130647" y="2491986"/>
              <a:ext cx="6864674" cy="5591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2563" indent="-160338">
                <a:lnSpc>
                  <a:spcPct val="150000"/>
                </a:lnSpc>
                <a:buFont typeface="Arial" panose="020B0604020202020204" pitchFamily="34" charset="0"/>
                <a:buChar char="•"/>
                <a:tabLst>
                  <a:tab pos="92075" algn="l"/>
                </a:tabLst>
              </a:pPr>
              <a:r>
                <a:rPr lang="es-AR" sz="2800" b="1" i="1" dirty="0" smtClean="0">
                  <a:solidFill>
                    <a:srgbClr val="C00000"/>
                  </a:solidFill>
                </a:rPr>
                <a:t>Formulario </a:t>
              </a:r>
              <a:r>
                <a:rPr lang="es-AR" sz="2800" b="1" i="1" dirty="0" smtClean="0">
                  <a:solidFill>
                    <a:srgbClr val="C00000"/>
                  </a:solidFill>
                </a:rPr>
                <a:t>de Ausencia Transitoria.</a:t>
              </a:r>
            </a:p>
            <a:p>
              <a:pPr marL="182563" indent="-160338">
                <a:lnSpc>
                  <a:spcPct val="150000"/>
                </a:lnSpc>
                <a:buFont typeface="Arial" panose="020B0604020202020204" pitchFamily="34" charset="0"/>
                <a:buChar char="•"/>
                <a:tabLst>
                  <a:tab pos="92075" algn="l"/>
                </a:tabLst>
              </a:pPr>
              <a:r>
                <a:rPr lang="es-AR" sz="2800" b="1" i="1" dirty="0" smtClean="0">
                  <a:solidFill>
                    <a:srgbClr val="C00000"/>
                  </a:solidFill>
                </a:rPr>
                <a:t>Colaboración </a:t>
              </a:r>
              <a:r>
                <a:rPr lang="es-AR" sz="2800" b="1" i="1" dirty="0" smtClean="0">
                  <a:solidFill>
                    <a:srgbClr val="C00000"/>
                  </a:solidFill>
                </a:rPr>
                <a:t>con Simulacros de Evacuación.</a:t>
              </a:r>
            </a:p>
            <a:p>
              <a:pPr marL="182563" indent="-160338">
                <a:lnSpc>
                  <a:spcPct val="150000"/>
                </a:lnSpc>
                <a:buFont typeface="Arial" panose="020B0604020202020204" pitchFamily="34" charset="0"/>
                <a:buChar char="•"/>
                <a:tabLst>
                  <a:tab pos="92075" algn="l"/>
                </a:tabLst>
              </a:pPr>
              <a:r>
                <a:rPr lang="es-AR" sz="2800" b="1" i="1" dirty="0" smtClean="0">
                  <a:solidFill>
                    <a:srgbClr val="C00000"/>
                  </a:solidFill>
                </a:rPr>
                <a:t>Colaboración con la carga y control del SIGFA.</a:t>
              </a:r>
            </a:p>
            <a:p>
              <a:pPr marL="182563" indent="-160338">
                <a:lnSpc>
                  <a:spcPct val="150000"/>
                </a:lnSpc>
                <a:buFont typeface="Arial" panose="020B0604020202020204" pitchFamily="34" charset="0"/>
                <a:buChar char="•"/>
                <a:tabLst>
                  <a:tab pos="92075" algn="l"/>
                </a:tabLst>
              </a:pPr>
              <a:r>
                <a:rPr lang="es-AR" sz="2800" b="1" i="1" dirty="0" smtClean="0">
                  <a:solidFill>
                    <a:srgbClr val="C00000"/>
                  </a:solidFill>
                </a:rPr>
                <a:t>Llamados a cargos vacantes.</a:t>
              </a:r>
            </a:p>
            <a:p>
              <a:pPr marL="182563" indent="-160338">
                <a:lnSpc>
                  <a:spcPct val="150000"/>
                </a:lnSpc>
                <a:buFont typeface="Arial" panose="020B0604020202020204" pitchFamily="34" charset="0"/>
                <a:buChar char="•"/>
                <a:tabLst>
                  <a:tab pos="92075" algn="l"/>
                </a:tabLst>
              </a:pPr>
              <a:r>
                <a:rPr lang="es-AR" sz="2800" b="1" i="1" dirty="0" smtClean="0">
                  <a:solidFill>
                    <a:srgbClr val="C00000"/>
                  </a:solidFill>
                </a:rPr>
                <a:t>Planificación de compras.</a:t>
              </a:r>
            </a:p>
            <a:p>
              <a:pPr marL="182563" indent="-160338">
                <a:lnSpc>
                  <a:spcPct val="150000"/>
                </a:lnSpc>
                <a:buFont typeface="Arial" panose="020B0604020202020204" pitchFamily="34" charset="0"/>
                <a:buChar char="•"/>
                <a:tabLst>
                  <a:tab pos="92075" algn="l"/>
                </a:tabLst>
              </a:pPr>
              <a:r>
                <a:rPr lang="es-AR" sz="2800" b="1" i="1" dirty="0" smtClean="0">
                  <a:solidFill>
                    <a:srgbClr val="C00000"/>
                  </a:solidFill>
                </a:rPr>
                <a:t>Años sabáticos.</a:t>
              </a:r>
              <a:endParaRPr lang="es-AR" sz="2800" b="1" i="1" dirty="0" smtClean="0">
                <a:solidFill>
                  <a:srgbClr val="C00000"/>
                </a:solidFill>
              </a:endParaRPr>
            </a:p>
          </p:txBody>
        </p:sp>
      </p:grpSp>
      <p:sp>
        <p:nvSpPr>
          <p:cNvPr id="8" name="CuadroTexto 7"/>
          <p:cNvSpPr txBox="1"/>
          <p:nvPr/>
        </p:nvSpPr>
        <p:spPr>
          <a:xfrm>
            <a:off x="863380" y="1763104"/>
            <a:ext cx="898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b="1" i="1" dirty="0" smtClean="0">
                <a:solidFill>
                  <a:schemeClr val="bg2">
                    <a:lumMod val="75000"/>
                  </a:schemeClr>
                </a:solidFill>
              </a:rPr>
              <a:t>Obras planificadas para el resto del 2023 por edificio:</a:t>
            </a:r>
            <a:endParaRPr lang="es-AR" sz="2400" b="1" i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7553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redondeado 19"/>
          <p:cNvSpPr/>
          <p:nvPr/>
        </p:nvSpPr>
        <p:spPr>
          <a:xfrm>
            <a:off x="2481944" y="1973944"/>
            <a:ext cx="7141028" cy="326571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2641600" y="2581695"/>
            <a:ext cx="7242629" cy="11364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AR" sz="4800" b="1" u="sng" dirty="0" smtClean="0">
                <a:solidFill>
                  <a:srgbClr val="B80000"/>
                </a:solidFill>
              </a:rPr>
              <a:t>Gracias por su tiempo!</a:t>
            </a:r>
            <a:endParaRPr lang="es-AR" sz="4800" b="1" u="sng" dirty="0">
              <a:solidFill>
                <a:srgbClr val="B80000"/>
              </a:solidFill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3522671" y="3864270"/>
            <a:ext cx="50595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5400" i="1" dirty="0" smtClean="0">
                <a:solidFill>
                  <a:schemeClr val="bg2">
                    <a:lumMod val="50000"/>
                  </a:schemeClr>
                </a:solidFill>
              </a:rPr>
              <a:t>Preguntas?</a:t>
            </a:r>
            <a:endParaRPr lang="es-AR" sz="11500" i="1" dirty="0">
              <a:solidFill>
                <a:srgbClr val="FF29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7136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Rojo naranj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32512</TotalTime>
  <Words>1344</Words>
  <Application>Microsoft Office PowerPoint</Application>
  <PresentationFormat>Panorámica</PresentationFormat>
  <Paragraphs>169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Arial</vt:lpstr>
      <vt:lpstr>Century Gothic</vt:lpstr>
      <vt:lpstr>Wingdings</vt:lpstr>
      <vt:lpstr>Wingdings 3</vt:lpstr>
      <vt:lpstr>Ion</vt:lpstr>
      <vt:lpstr>Reunión informativa con Departamento Pedagógicos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Electrónica I</dc:title>
  <dc:creator>Usuario de Windows</dc:creator>
  <cp:lastModifiedBy>Usuario de Windows</cp:lastModifiedBy>
  <cp:revision>118</cp:revision>
  <dcterms:created xsi:type="dcterms:W3CDTF">2022-05-25T13:12:29Z</dcterms:created>
  <dcterms:modified xsi:type="dcterms:W3CDTF">2023-08-03T17:31:49Z</dcterms:modified>
</cp:coreProperties>
</file>